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321" r:id="rId3"/>
    <p:sldId id="325" r:id="rId4"/>
    <p:sldId id="397" r:id="rId5"/>
    <p:sldId id="403" r:id="rId6"/>
    <p:sldId id="323" r:id="rId7"/>
    <p:sldId id="398" r:id="rId8"/>
    <p:sldId id="346" r:id="rId9"/>
    <p:sldId id="349" r:id="rId10"/>
    <p:sldId id="401" r:id="rId11"/>
    <p:sldId id="402" r:id="rId12"/>
    <p:sldId id="399" r:id="rId13"/>
    <p:sldId id="400" r:id="rId14"/>
  </p:sldIdLst>
  <p:sldSz cx="9144000" cy="6858000" type="screen4x3"/>
  <p:notesSz cx="6797675" cy="992822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6" roundtripDataSignature="AMtx7mjUGbalqSNdcxBjMriR93ySVCeT/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B4185EB4-2909-410D-90F8-B63D9DDFBAA7}">
  <a:tblStyle styleId="{B4185EB4-2909-410D-90F8-B63D9DDFBAA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2815" autoAdjust="0"/>
  </p:normalViewPr>
  <p:slideViewPr>
    <p:cSldViewPr snapToGrid="0">
      <p:cViewPr varScale="1">
        <p:scale>
          <a:sx n="115" d="100"/>
          <a:sy n="115" d="100"/>
        </p:scale>
        <p:origin x="-1524" y="-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67" Type="http://schemas.openxmlformats.org/officeDocument/2006/relationships/presProps" Target="presProps.xml"/><Relationship Id="rId2" Type="http://schemas.openxmlformats.org/officeDocument/2006/relationships/slide" Target="slides/slide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66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6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1"/>
            <a:ext cx="2945659" cy="496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0445" y="1"/>
            <a:ext cx="2945659" cy="496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15988" y="744538"/>
            <a:ext cx="496570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9430092"/>
            <a:ext cx="2945659" cy="496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0445" y="9430092"/>
            <a:ext cx="2945659" cy="496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4149637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0" name="Google Shape;100;p1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1" name="Google Shape;101;p1:notes"/>
          <p:cNvSpPr txBox="1">
            <a:spLocks noGrp="1"/>
          </p:cNvSpPr>
          <p:nvPr>
            <p:ph type="sldNum" idx="12"/>
          </p:nvPr>
        </p:nvSpPr>
        <p:spPr>
          <a:xfrm>
            <a:off x="3850445" y="9430092"/>
            <a:ext cx="2945659" cy="496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:notes"/>
          <p:cNvSpPr txBox="1">
            <a:spLocks noGrp="1"/>
          </p:cNvSpPr>
          <p:nvPr>
            <p:ph type="ftr" idx="11"/>
          </p:nvPr>
        </p:nvSpPr>
        <p:spPr>
          <a:xfrm>
            <a:off x="1" y="9430092"/>
            <a:ext cx="2945659" cy="496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PROV Confidential</a:t>
            </a:r>
            <a:endParaRPr sz="1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3"/>
          <p:cNvSpPr txBox="1">
            <a:spLocks noGrp="1"/>
          </p:cNvSpPr>
          <p:nvPr>
            <p:ph type="ctrTitle"/>
          </p:nvPr>
        </p:nvSpPr>
        <p:spPr>
          <a:xfrm>
            <a:off x="522000" y="1122363"/>
            <a:ext cx="8100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3"/>
          <p:cNvSpPr txBox="1">
            <a:spLocks noGrp="1"/>
          </p:cNvSpPr>
          <p:nvPr>
            <p:ph type="subTitle" idx="1"/>
          </p:nvPr>
        </p:nvSpPr>
        <p:spPr>
          <a:xfrm>
            <a:off x="522000" y="3602038"/>
            <a:ext cx="8100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dt" idx="10"/>
          </p:nvPr>
        </p:nvSpPr>
        <p:spPr>
          <a:xfrm>
            <a:off x="522000" y="6489337"/>
            <a:ext cx="9166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ftr" idx="11"/>
          </p:nvPr>
        </p:nvSpPr>
        <p:spPr>
          <a:xfrm>
            <a:off x="1438650" y="6489337"/>
            <a:ext cx="1080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sldNum" idx="12"/>
          </p:nvPr>
        </p:nvSpPr>
        <p:spPr>
          <a:xfrm>
            <a:off x="2518650" y="6489337"/>
            <a:ext cx="1080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章節標題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 txBox="1">
            <a:spLocks noGrp="1"/>
          </p:cNvSpPr>
          <p:nvPr>
            <p:ph type="title"/>
          </p:nvPr>
        </p:nvSpPr>
        <p:spPr>
          <a:xfrm>
            <a:off x="628650" y="900001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body" idx="1"/>
          </p:nvPr>
        </p:nvSpPr>
        <p:spPr>
          <a:xfrm>
            <a:off x="628650" y="380569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dt" idx="10"/>
          </p:nvPr>
        </p:nvSpPr>
        <p:spPr>
          <a:xfrm>
            <a:off x="522000" y="6489337"/>
            <a:ext cx="9166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ftr" idx="11"/>
          </p:nvPr>
        </p:nvSpPr>
        <p:spPr>
          <a:xfrm>
            <a:off x="1438650" y="6489337"/>
            <a:ext cx="1080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sldNum" idx="12"/>
          </p:nvPr>
        </p:nvSpPr>
        <p:spPr>
          <a:xfrm>
            <a:off x="2518650" y="6489337"/>
            <a:ext cx="1080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項物件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9256" y="527052"/>
            <a:ext cx="7925487" cy="5803895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16"/>
          <p:cNvSpPr txBox="1">
            <a:spLocks noGrp="1"/>
          </p:cNvSpPr>
          <p:nvPr>
            <p:ph type="title"/>
          </p:nvPr>
        </p:nvSpPr>
        <p:spPr>
          <a:xfrm>
            <a:off x="1900800" y="1"/>
            <a:ext cx="7070342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6"/>
          <p:cNvSpPr txBox="1">
            <a:spLocks noGrp="1"/>
          </p:cNvSpPr>
          <p:nvPr>
            <p:ph type="body" idx="1"/>
          </p:nvPr>
        </p:nvSpPr>
        <p:spPr>
          <a:xfrm>
            <a:off x="628650" y="684674"/>
            <a:ext cx="3886200" cy="580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body" idx="2"/>
          </p:nvPr>
        </p:nvSpPr>
        <p:spPr>
          <a:xfrm>
            <a:off x="4629150" y="684674"/>
            <a:ext cx="3886200" cy="5492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dt" idx="10"/>
          </p:nvPr>
        </p:nvSpPr>
        <p:spPr>
          <a:xfrm>
            <a:off x="522000" y="6489337"/>
            <a:ext cx="9166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ftr" idx="11"/>
          </p:nvPr>
        </p:nvSpPr>
        <p:spPr>
          <a:xfrm>
            <a:off x="1438650" y="6489337"/>
            <a:ext cx="1080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sldNum" idx="12"/>
          </p:nvPr>
        </p:nvSpPr>
        <p:spPr>
          <a:xfrm>
            <a:off x="2518650" y="6489337"/>
            <a:ext cx="1080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對">
  <p:cSld name="比對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9256" y="527052"/>
            <a:ext cx="7925487" cy="580389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7"/>
          <p:cNvSpPr txBox="1">
            <a:spLocks noGrp="1"/>
          </p:cNvSpPr>
          <p:nvPr>
            <p:ph type="body" idx="1"/>
          </p:nvPr>
        </p:nvSpPr>
        <p:spPr>
          <a:xfrm>
            <a:off x="629842" y="72728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7"/>
          <p:cNvSpPr txBox="1">
            <a:spLocks noGrp="1"/>
          </p:cNvSpPr>
          <p:nvPr>
            <p:ph type="body" idx="2"/>
          </p:nvPr>
        </p:nvSpPr>
        <p:spPr>
          <a:xfrm>
            <a:off x="629842" y="1551195"/>
            <a:ext cx="3868340" cy="4638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7"/>
          <p:cNvSpPr txBox="1">
            <a:spLocks noGrp="1"/>
          </p:cNvSpPr>
          <p:nvPr>
            <p:ph type="body" idx="3"/>
          </p:nvPr>
        </p:nvSpPr>
        <p:spPr>
          <a:xfrm>
            <a:off x="4627959" y="731405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body" idx="4"/>
          </p:nvPr>
        </p:nvSpPr>
        <p:spPr>
          <a:xfrm>
            <a:off x="4629150" y="1551195"/>
            <a:ext cx="3887391" cy="4638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dt" idx="10"/>
          </p:nvPr>
        </p:nvSpPr>
        <p:spPr>
          <a:xfrm>
            <a:off x="522000" y="6489337"/>
            <a:ext cx="9166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ftr" idx="11"/>
          </p:nvPr>
        </p:nvSpPr>
        <p:spPr>
          <a:xfrm>
            <a:off x="1438650" y="6489337"/>
            <a:ext cx="1080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7"/>
          <p:cNvSpPr txBox="1">
            <a:spLocks noGrp="1"/>
          </p:cNvSpPr>
          <p:nvPr>
            <p:ph type="sldNum" idx="12"/>
          </p:nvPr>
        </p:nvSpPr>
        <p:spPr>
          <a:xfrm>
            <a:off x="2518650" y="6489337"/>
            <a:ext cx="1080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17"/>
          <p:cNvSpPr txBox="1">
            <a:spLocks noGrp="1"/>
          </p:cNvSpPr>
          <p:nvPr>
            <p:ph type="title"/>
          </p:nvPr>
        </p:nvSpPr>
        <p:spPr>
          <a:xfrm>
            <a:off x="1426446" y="1"/>
            <a:ext cx="7544696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9256" y="527052"/>
            <a:ext cx="7925487" cy="580389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8"/>
          <p:cNvSpPr txBox="1">
            <a:spLocks noGrp="1"/>
          </p:cNvSpPr>
          <p:nvPr>
            <p:ph type="title"/>
          </p:nvPr>
        </p:nvSpPr>
        <p:spPr>
          <a:xfrm>
            <a:off x="1900800" y="1"/>
            <a:ext cx="7070342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dt" idx="10"/>
          </p:nvPr>
        </p:nvSpPr>
        <p:spPr>
          <a:xfrm>
            <a:off x="522000" y="6489337"/>
            <a:ext cx="9166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ftr" idx="11"/>
          </p:nvPr>
        </p:nvSpPr>
        <p:spPr>
          <a:xfrm>
            <a:off x="1438650" y="6489337"/>
            <a:ext cx="1080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8"/>
          <p:cNvSpPr txBox="1">
            <a:spLocks noGrp="1"/>
          </p:cNvSpPr>
          <p:nvPr>
            <p:ph type="sldNum" idx="12"/>
          </p:nvPr>
        </p:nvSpPr>
        <p:spPr>
          <a:xfrm>
            <a:off x="2518650" y="6489337"/>
            <a:ext cx="1080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9256" y="527052"/>
            <a:ext cx="7925487" cy="580389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9"/>
          <p:cNvSpPr txBox="1">
            <a:spLocks noGrp="1"/>
          </p:cNvSpPr>
          <p:nvPr>
            <p:ph type="dt" idx="10"/>
          </p:nvPr>
        </p:nvSpPr>
        <p:spPr>
          <a:xfrm>
            <a:off x="522000" y="6489337"/>
            <a:ext cx="9166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ftr" idx="11"/>
          </p:nvPr>
        </p:nvSpPr>
        <p:spPr>
          <a:xfrm>
            <a:off x="1438650" y="6489337"/>
            <a:ext cx="1080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sldNum" idx="12"/>
          </p:nvPr>
        </p:nvSpPr>
        <p:spPr>
          <a:xfrm>
            <a:off x="2518650" y="6489337"/>
            <a:ext cx="1080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內容" type="objTx">
  <p:cSld name="OBJECT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9256" y="527052"/>
            <a:ext cx="7925487" cy="580389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20"/>
          <p:cNvSpPr txBox="1">
            <a:spLocks noGrp="1"/>
          </p:cNvSpPr>
          <p:nvPr>
            <p:ph type="title"/>
          </p:nvPr>
        </p:nvSpPr>
        <p:spPr>
          <a:xfrm>
            <a:off x="629841" y="987425"/>
            <a:ext cx="2949178" cy="106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dt" idx="10"/>
          </p:nvPr>
        </p:nvSpPr>
        <p:spPr>
          <a:xfrm>
            <a:off x="522000" y="6489337"/>
            <a:ext cx="9166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ftr" idx="11"/>
          </p:nvPr>
        </p:nvSpPr>
        <p:spPr>
          <a:xfrm>
            <a:off x="1438650" y="6489337"/>
            <a:ext cx="1080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sldNum" idx="12"/>
          </p:nvPr>
        </p:nvSpPr>
        <p:spPr>
          <a:xfrm>
            <a:off x="2518650" y="6489337"/>
            <a:ext cx="1080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圖片" type="picTx">
  <p:cSld name="PICTURE_WITH_CAPTION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9256" y="527052"/>
            <a:ext cx="7925487" cy="580389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21"/>
          <p:cNvSpPr txBox="1">
            <a:spLocks noGrp="1"/>
          </p:cNvSpPr>
          <p:nvPr>
            <p:ph type="title"/>
          </p:nvPr>
        </p:nvSpPr>
        <p:spPr>
          <a:xfrm>
            <a:off x="629841" y="987425"/>
            <a:ext cx="2949178" cy="106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21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dt" idx="10"/>
          </p:nvPr>
        </p:nvSpPr>
        <p:spPr>
          <a:xfrm>
            <a:off x="522000" y="6489337"/>
            <a:ext cx="9166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1"/>
          <p:cNvSpPr txBox="1">
            <a:spLocks noGrp="1"/>
          </p:cNvSpPr>
          <p:nvPr>
            <p:ph type="ftr" idx="11"/>
          </p:nvPr>
        </p:nvSpPr>
        <p:spPr>
          <a:xfrm>
            <a:off x="1438650" y="6489337"/>
            <a:ext cx="1080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sldNum" idx="12"/>
          </p:nvPr>
        </p:nvSpPr>
        <p:spPr>
          <a:xfrm>
            <a:off x="2518650" y="6489337"/>
            <a:ext cx="1080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>
  <p:cSld name="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9256" y="527052"/>
            <a:ext cx="7925487" cy="580389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22"/>
          <p:cNvSpPr txBox="1">
            <a:spLocks noGrp="1"/>
          </p:cNvSpPr>
          <p:nvPr>
            <p:ph type="title"/>
          </p:nvPr>
        </p:nvSpPr>
        <p:spPr>
          <a:xfrm>
            <a:off x="1900800" y="1"/>
            <a:ext cx="7070342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2"/>
          <p:cNvSpPr txBox="1">
            <a:spLocks noGrp="1"/>
          </p:cNvSpPr>
          <p:nvPr>
            <p:ph type="body" idx="1"/>
          </p:nvPr>
        </p:nvSpPr>
        <p:spPr>
          <a:xfrm rot="5400000">
            <a:off x="2046267" y="-292120"/>
            <a:ext cx="5051466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22"/>
          <p:cNvSpPr txBox="1">
            <a:spLocks noGrp="1"/>
          </p:cNvSpPr>
          <p:nvPr>
            <p:ph type="dt" idx="10"/>
          </p:nvPr>
        </p:nvSpPr>
        <p:spPr>
          <a:xfrm>
            <a:off x="522000" y="6489337"/>
            <a:ext cx="9166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ftr" idx="11"/>
          </p:nvPr>
        </p:nvSpPr>
        <p:spPr>
          <a:xfrm>
            <a:off x="1438650" y="6489337"/>
            <a:ext cx="1080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2"/>
          <p:cNvSpPr txBox="1">
            <a:spLocks noGrp="1"/>
          </p:cNvSpPr>
          <p:nvPr>
            <p:ph type="sldNum" idx="12"/>
          </p:nvPr>
        </p:nvSpPr>
        <p:spPr>
          <a:xfrm>
            <a:off x="2518650" y="6489337"/>
            <a:ext cx="1080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" name="Google Shape;90;p22"/>
          <p:cNvSpPr txBox="1"/>
          <p:nvPr/>
        </p:nvSpPr>
        <p:spPr>
          <a:xfrm>
            <a:off x="628650" y="1003259"/>
            <a:ext cx="6588919" cy="122238"/>
          </a:xfrm>
          <a:prstGeom prst="rect">
            <a:avLst/>
          </a:prstGeom>
          <a:gradFill>
            <a:gsLst>
              <a:gs pos="0">
                <a:srgbClr val="0000FF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>
  <p:cSld name="VERTICAL_TITLE_AND_VERTICAL_TEX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9256" y="527052"/>
            <a:ext cx="7925487" cy="580389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3"/>
          <p:cNvSpPr txBox="1">
            <a:spLocks noGrp="1"/>
          </p:cNvSpPr>
          <p:nvPr>
            <p:ph type="title"/>
          </p:nvPr>
        </p:nvSpPr>
        <p:spPr>
          <a:xfrm rot="5400000">
            <a:off x="4623594" y="2532095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3"/>
          <p:cNvSpPr txBox="1">
            <a:spLocks noGrp="1"/>
          </p:cNvSpPr>
          <p:nvPr>
            <p:ph type="body" idx="1"/>
          </p:nvPr>
        </p:nvSpPr>
        <p:spPr>
          <a:xfrm rot="5400000">
            <a:off x="623094" y="617570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23"/>
          <p:cNvSpPr txBox="1">
            <a:spLocks noGrp="1"/>
          </p:cNvSpPr>
          <p:nvPr>
            <p:ph type="dt" idx="10"/>
          </p:nvPr>
        </p:nvSpPr>
        <p:spPr>
          <a:xfrm>
            <a:off x="522000" y="6489337"/>
            <a:ext cx="9166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3"/>
          <p:cNvSpPr txBox="1">
            <a:spLocks noGrp="1"/>
          </p:cNvSpPr>
          <p:nvPr>
            <p:ph type="ftr" idx="11"/>
          </p:nvPr>
        </p:nvSpPr>
        <p:spPr>
          <a:xfrm>
            <a:off x="1438650" y="6489337"/>
            <a:ext cx="1080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3"/>
          <p:cNvSpPr txBox="1">
            <a:spLocks noGrp="1"/>
          </p:cNvSpPr>
          <p:nvPr>
            <p:ph type="sldNum" idx="12"/>
          </p:nvPr>
        </p:nvSpPr>
        <p:spPr>
          <a:xfrm>
            <a:off x="2518650" y="6489337"/>
            <a:ext cx="1080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/>
        </p:nvSpPr>
        <p:spPr>
          <a:xfrm>
            <a:off x="0" y="6498344"/>
            <a:ext cx="9144000" cy="360000"/>
          </a:xfrm>
          <a:prstGeom prst="rect">
            <a:avLst/>
          </a:prstGeom>
          <a:gradFill>
            <a:gsLst>
              <a:gs pos="0">
                <a:srgbClr val="7BD2F0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2"/>
          <p:cNvSpPr txBox="1"/>
          <p:nvPr/>
        </p:nvSpPr>
        <p:spPr>
          <a:xfrm>
            <a:off x="0" y="0"/>
            <a:ext cx="9144000" cy="5400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CCE0EE"/>
              </a:gs>
            </a:gsLst>
            <a:lin ang="0" scaled="0"/>
          </a:gra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2"/>
          <p:cNvSpPr txBox="1">
            <a:spLocks noGrp="1"/>
          </p:cNvSpPr>
          <p:nvPr>
            <p:ph type="title"/>
          </p:nvPr>
        </p:nvSpPr>
        <p:spPr>
          <a:xfrm>
            <a:off x="1900800" y="1"/>
            <a:ext cx="7070342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body" idx="1"/>
          </p:nvPr>
        </p:nvSpPr>
        <p:spPr>
          <a:xfrm>
            <a:off x="522000" y="666657"/>
            <a:ext cx="8100000" cy="583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dt" idx="10"/>
          </p:nvPr>
        </p:nvSpPr>
        <p:spPr>
          <a:xfrm>
            <a:off x="522000" y="6489337"/>
            <a:ext cx="9166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12"/>
          <p:cNvSpPr txBox="1">
            <a:spLocks noGrp="1"/>
          </p:cNvSpPr>
          <p:nvPr>
            <p:ph type="ftr" idx="11"/>
          </p:nvPr>
        </p:nvSpPr>
        <p:spPr>
          <a:xfrm>
            <a:off x="1438650" y="6489337"/>
            <a:ext cx="1080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12"/>
          <p:cNvSpPr txBox="1">
            <a:spLocks noGrp="1"/>
          </p:cNvSpPr>
          <p:nvPr>
            <p:ph type="sldNum" idx="12"/>
          </p:nvPr>
        </p:nvSpPr>
        <p:spPr>
          <a:xfrm>
            <a:off x="2518650" y="6489337"/>
            <a:ext cx="1080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" name="Google Shape;17;p12"/>
          <p:cNvSpPr txBox="1"/>
          <p:nvPr/>
        </p:nvSpPr>
        <p:spPr>
          <a:xfrm>
            <a:off x="3672000" y="6489337"/>
            <a:ext cx="1800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PROV CONFIDENTIAL</a:t>
            </a:r>
            <a:endParaRPr sz="1200" b="0" i="0" u="none" strike="noStrike" cap="none">
              <a:solidFill>
                <a:srgbClr val="898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" name="Google Shape;18;p12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80000" y="0"/>
            <a:ext cx="1720800" cy="540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AWEX12001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zh-TW" altLang="en-US" dirty="0" smtClean="0"/>
              <a:t>配電資料</a:t>
            </a:r>
            <a:endParaRPr lang="en-US" altLang="zh-TW" dirty="0" smtClean="0"/>
          </a:p>
          <a:p>
            <a:r>
              <a:rPr lang="en-US" altLang="zh-TW" dirty="0" smtClean="0"/>
              <a:t>2025/09/26</a:t>
            </a:r>
            <a:r>
              <a:rPr lang="zh-TW" altLang="en-US" dirty="0" smtClean="0"/>
              <a:t>  </a:t>
            </a:r>
            <a:r>
              <a:rPr lang="en-US" altLang="zh-TW" dirty="0" smtClean="0"/>
              <a:t>A1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48" y="1464926"/>
            <a:ext cx="3873082" cy="38913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0746" y="1288477"/>
            <a:ext cx="4669794" cy="43808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標題 1"/>
          <p:cNvSpPr txBox="1">
            <a:spLocks/>
          </p:cNvSpPr>
          <p:nvPr/>
        </p:nvSpPr>
        <p:spPr>
          <a:xfrm>
            <a:off x="1805107" y="0"/>
            <a:ext cx="7070342" cy="55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zh-TW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System Layout</a:t>
            </a:r>
            <a:endParaRPr lang="zh-TW" alt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直線圖說文字 1 1"/>
          <p:cNvSpPr/>
          <p:nvPr/>
        </p:nvSpPr>
        <p:spPr>
          <a:xfrm>
            <a:off x="7676809" y="701809"/>
            <a:ext cx="768922" cy="326753"/>
          </a:xfrm>
          <a:prstGeom prst="borderCallout1">
            <a:avLst>
              <a:gd name="adj1" fmla="val 48563"/>
              <a:gd name="adj2" fmla="val -293"/>
              <a:gd name="adj3" fmla="val 286077"/>
              <a:gd name="adj4" fmla="val -13169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FLP-D</a:t>
            </a:r>
            <a:endParaRPr lang="zh-TW" altLang="en-US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直線圖說文字 1 12"/>
          <p:cNvSpPr/>
          <p:nvPr/>
        </p:nvSpPr>
        <p:spPr>
          <a:xfrm>
            <a:off x="4025434" y="1850606"/>
            <a:ext cx="755657" cy="326753"/>
          </a:xfrm>
          <a:prstGeom prst="borderCallout1">
            <a:avLst>
              <a:gd name="adj1" fmla="val 46019"/>
              <a:gd name="adj2" fmla="val 100105"/>
              <a:gd name="adj3" fmla="val 250674"/>
              <a:gd name="adj4" fmla="val 150833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FLP-A</a:t>
            </a:r>
            <a:endParaRPr lang="zh-TW" altLang="en-US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3207236" y="6532199"/>
            <a:ext cx="2794429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順序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面對操作面，順時鐘方向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直線圖說文字 1 18"/>
          <p:cNvSpPr/>
          <p:nvPr/>
        </p:nvSpPr>
        <p:spPr>
          <a:xfrm>
            <a:off x="5491922" y="5808045"/>
            <a:ext cx="774365" cy="326753"/>
          </a:xfrm>
          <a:prstGeom prst="borderCallout1">
            <a:avLst>
              <a:gd name="adj1" fmla="val 46019"/>
              <a:gd name="adj2" fmla="val 100105"/>
              <a:gd name="adj3" fmla="val -227606"/>
              <a:gd name="adj4" fmla="val 165483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FLP-B</a:t>
            </a:r>
            <a:endParaRPr lang="zh-TW" altLang="en-US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直線圖說文字 1 19"/>
          <p:cNvSpPr/>
          <p:nvPr/>
        </p:nvSpPr>
        <p:spPr>
          <a:xfrm>
            <a:off x="8329350" y="1920934"/>
            <a:ext cx="764771" cy="326753"/>
          </a:xfrm>
          <a:prstGeom prst="borderCallout1">
            <a:avLst>
              <a:gd name="adj1" fmla="val 48563"/>
              <a:gd name="adj2" fmla="val -293"/>
              <a:gd name="adj3" fmla="val 242828"/>
              <a:gd name="adj4" fmla="val -46484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FLP-C</a:t>
            </a:r>
            <a:endParaRPr lang="zh-TW" altLang="en-US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直線圖說文字 1 20"/>
          <p:cNvSpPr/>
          <p:nvPr/>
        </p:nvSpPr>
        <p:spPr>
          <a:xfrm>
            <a:off x="4350747" y="1397126"/>
            <a:ext cx="794616" cy="326753"/>
          </a:xfrm>
          <a:prstGeom prst="borderCallout1">
            <a:avLst>
              <a:gd name="adj1" fmla="val 46019"/>
              <a:gd name="adj2" fmla="val 100105"/>
              <a:gd name="adj3" fmla="val 367699"/>
              <a:gd name="adj4" fmla="val 206136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WTR-A</a:t>
            </a:r>
            <a:endParaRPr lang="zh-TW" altLang="en-US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直線圖說文字 1 21"/>
          <p:cNvSpPr/>
          <p:nvPr/>
        </p:nvSpPr>
        <p:spPr>
          <a:xfrm>
            <a:off x="8257308" y="5356274"/>
            <a:ext cx="763231" cy="326753"/>
          </a:xfrm>
          <a:prstGeom prst="borderCallout1">
            <a:avLst>
              <a:gd name="adj1" fmla="val 48563"/>
              <a:gd name="adj2" fmla="val -293"/>
              <a:gd name="adj3" fmla="val -487312"/>
              <a:gd name="adj4" fmla="val -98555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WTR-B</a:t>
            </a:r>
            <a:endParaRPr lang="zh-TW" altLang="en-US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直線圖說文字 1 22"/>
          <p:cNvSpPr/>
          <p:nvPr/>
        </p:nvSpPr>
        <p:spPr>
          <a:xfrm>
            <a:off x="4655601" y="4671884"/>
            <a:ext cx="812656" cy="326753"/>
          </a:xfrm>
          <a:prstGeom prst="borderCallout1">
            <a:avLst>
              <a:gd name="adj1" fmla="val 46019"/>
              <a:gd name="adj2" fmla="val 100105"/>
              <a:gd name="adj3" fmla="val -415865"/>
              <a:gd name="adj4" fmla="val 19158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WAS-A</a:t>
            </a:r>
            <a:endParaRPr lang="zh-TW" altLang="en-US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直線圖說文字 1 24"/>
          <p:cNvSpPr/>
          <p:nvPr/>
        </p:nvSpPr>
        <p:spPr>
          <a:xfrm>
            <a:off x="4781091" y="865185"/>
            <a:ext cx="794616" cy="326753"/>
          </a:xfrm>
          <a:prstGeom prst="borderCallout1">
            <a:avLst>
              <a:gd name="adj1" fmla="val 46019"/>
              <a:gd name="adj2" fmla="val 100105"/>
              <a:gd name="adj3" fmla="val 456740"/>
              <a:gd name="adj4" fmla="val 241705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WOI-B</a:t>
            </a:r>
            <a:endParaRPr lang="zh-TW" altLang="en-US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直線圖說文字 1 25"/>
          <p:cNvSpPr/>
          <p:nvPr/>
        </p:nvSpPr>
        <p:spPr>
          <a:xfrm>
            <a:off x="5010563" y="5192897"/>
            <a:ext cx="812656" cy="326753"/>
          </a:xfrm>
          <a:prstGeom prst="borderCallout1">
            <a:avLst>
              <a:gd name="adj1" fmla="val 46019"/>
              <a:gd name="adj2" fmla="val 100105"/>
              <a:gd name="adj3" fmla="val -721149"/>
              <a:gd name="adj4" fmla="val 21102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WOI-A</a:t>
            </a:r>
            <a:endParaRPr lang="zh-TW" altLang="en-US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直線圖說文字 1 26"/>
          <p:cNvSpPr/>
          <p:nvPr/>
        </p:nvSpPr>
        <p:spPr>
          <a:xfrm>
            <a:off x="7874922" y="1394835"/>
            <a:ext cx="836813" cy="326753"/>
          </a:xfrm>
          <a:prstGeom prst="borderCallout1">
            <a:avLst>
              <a:gd name="adj1" fmla="val 48563"/>
              <a:gd name="adj2" fmla="val -293"/>
              <a:gd name="adj3" fmla="val 395471"/>
              <a:gd name="adj4" fmla="val -79093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WAS-B</a:t>
            </a:r>
            <a:endParaRPr lang="zh-TW" altLang="en-US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28" name="直線單箭頭接點 27"/>
          <p:cNvCxnSpPr/>
          <p:nvPr/>
        </p:nvCxnSpPr>
        <p:spPr>
          <a:xfrm flipH="1" flipV="1">
            <a:off x="1805106" y="1306081"/>
            <a:ext cx="2220328" cy="1345679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字方塊 28"/>
          <p:cNvSpPr txBox="1"/>
          <p:nvPr/>
        </p:nvSpPr>
        <p:spPr>
          <a:xfrm rot="1920693">
            <a:off x="2520971" y="1669099"/>
            <a:ext cx="11144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1850mm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1" name="直線單箭頭接點 30"/>
          <p:cNvCxnSpPr/>
          <p:nvPr/>
        </p:nvCxnSpPr>
        <p:spPr>
          <a:xfrm flipV="1">
            <a:off x="4106725" y="2428500"/>
            <a:ext cx="0" cy="2356971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/>
          <p:cNvSpPr txBox="1"/>
          <p:nvPr/>
        </p:nvSpPr>
        <p:spPr>
          <a:xfrm rot="16200000">
            <a:off x="3708486" y="3333307"/>
            <a:ext cx="11144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1980mm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4" name="直線單箭頭接點 33"/>
          <p:cNvCxnSpPr/>
          <p:nvPr/>
        </p:nvCxnSpPr>
        <p:spPr>
          <a:xfrm flipV="1">
            <a:off x="2438091" y="4693814"/>
            <a:ext cx="1927701" cy="1130152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字方塊 34"/>
          <p:cNvSpPr txBox="1"/>
          <p:nvPr/>
        </p:nvSpPr>
        <p:spPr>
          <a:xfrm rot="19750946">
            <a:off x="3075030" y="5262371"/>
            <a:ext cx="11144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1760mm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24290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/>
          <p:cNvSpPr txBox="1">
            <a:spLocks/>
          </p:cNvSpPr>
          <p:nvPr/>
        </p:nvSpPr>
        <p:spPr>
          <a:xfrm>
            <a:off x="1805107" y="0"/>
            <a:ext cx="7070342" cy="55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zh-TW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MAA(</a:t>
            </a:r>
            <a:r>
              <a:rPr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光柵</a:t>
            </a:r>
            <a:r>
              <a:rPr lang="en-US" altLang="zh-TW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+CCTV+FFU+</a:t>
            </a:r>
            <a:r>
              <a:rPr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離子</a:t>
            </a:r>
            <a:r>
              <a:rPr lang="en-US" altLang="zh-TW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Bar)</a:t>
            </a:r>
            <a:endParaRPr lang="zh-TW" alt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3226628" y="6518339"/>
            <a:ext cx="2794429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順序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面對操作面，順時鐘方向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63" name="表格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456504"/>
              </p:ext>
            </p:extLst>
          </p:nvPr>
        </p:nvGraphicFramePr>
        <p:xfrm>
          <a:off x="227968" y="574880"/>
          <a:ext cx="2048479" cy="1080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02312"/>
                <a:gridCol w="1546167"/>
              </a:tblGrid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IO</a:t>
                      </a:r>
                      <a:r>
                        <a:rPr lang="zh-TW" altLang="en-US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00" u="none" strike="noStrike" dirty="0" smtClea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中文名稱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X0107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光柵</a:t>
                      </a: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-1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X0307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光柵</a:t>
                      </a: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-2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X0507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光柵</a:t>
                      </a: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-3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X0707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光柵</a:t>
                      </a: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-4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117" y="2787329"/>
            <a:ext cx="3449725" cy="344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6939" y="2787329"/>
            <a:ext cx="3449725" cy="344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9" name="直線單箭頭接點 68"/>
          <p:cNvCxnSpPr/>
          <p:nvPr/>
        </p:nvCxnSpPr>
        <p:spPr>
          <a:xfrm flipH="1">
            <a:off x="2855432" y="4247800"/>
            <a:ext cx="371196" cy="191822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字方塊 69"/>
          <p:cNvSpPr txBox="1"/>
          <p:nvPr/>
        </p:nvSpPr>
        <p:spPr>
          <a:xfrm>
            <a:off x="2554776" y="6166026"/>
            <a:ext cx="601312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CCTV-2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1" name="文字方塊 70"/>
          <p:cNvSpPr txBox="1"/>
          <p:nvPr/>
        </p:nvSpPr>
        <p:spPr>
          <a:xfrm>
            <a:off x="1064048" y="5504887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前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5" name="文字方塊 74"/>
          <p:cNvSpPr txBox="1"/>
          <p:nvPr/>
        </p:nvSpPr>
        <p:spPr>
          <a:xfrm>
            <a:off x="3527367" y="2902013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</a:t>
            </a:r>
          </a:p>
        </p:txBody>
      </p:sp>
      <p:sp>
        <p:nvSpPr>
          <p:cNvPr id="77" name="文字方塊 76"/>
          <p:cNvSpPr txBox="1"/>
          <p:nvPr/>
        </p:nvSpPr>
        <p:spPr>
          <a:xfrm>
            <a:off x="4017814" y="5776866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右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8" name="文字方塊 77"/>
          <p:cNvSpPr txBox="1"/>
          <p:nvPr/>
        </p:nvSpPr>
        <p:spPr>
          <a:xfrm>
            <a:off x="781417" y="3143864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左</a:t>
            </a:r>
          </a:p>
        </p:txBody>
      </p:sp>
      <p:cxnSp>
        <p:nvCxnSpPr>
          <p:cNvPr id="84" name="直線單箭頭接點 83"/>
          <p:cNvCxnSpPr/>
          <p:nvPr/>
        </p:nvCxnSpPr>
        <p:spPr>
          <a:xfrm flipV="1">
            <a:off x="3458095" y="3660783"/>
            <a:ext cx="652559" cy="51956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文字方塊 84"/>
          <p:cNvSpPr txBox="1"/>
          <p:nvPr/>
        </p:nvSpPr>
        <p:spPr>
          <a:xfrm>
            <a:off x="3809998" y="3445339"/>
            <a:ext cx="601312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CCTV-3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6" name="文字方塊 85"/>
          <p:cNvSpPr txBox="1"/>
          <p:nvPr/>
        </p:nvSpPr>
        <p:spPr>
          <a:xfrm>
            <a:off x="8051483" y="5960055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左</a:t>
            </a:r>
          </a:p>
        </p:txBody>
      </p:sp>
      <p:sp>
        <p:nvSpPr>
          <p:cNvPr id="87" name="文字方塊 86"/>
          <p:cNvSpPr txBox="1"/>
          <p:nvPr/>
        </p:nvSpPr>
        <p:spPr>
          <a:xfrm>
            <a:off x="5057647" y="2816682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右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8" name="文字方塊 87"/>
          <p:cNvSpPr txBox="1"/>
          <p:nvPr/>
        </p:nvSpPr>
        <p:spPr>
          <a:xfrm>
            <a:off x="5340278" y="5666911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</a:t>
            </a:r>
          </a:p>
        </p:txBody>
      </p:sp>
      <p:sp>
        <p:nvSpPr>
          <p:cNvPr id="89" name="文字方塊 88"/>
          <p:cNvSpPr txBox="1"/>
          <p:nvPr/>
        </p:nvSpPr>
        <p:spPr>
          <a:xfrm>
            <a:off x="7525789" y="2908975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前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91" name="直線單箭頭接點 90"/>
          <p:cNvCxnSpPr>
            <a:endCxn id="92" idx="0"/>
          </p:cNvCxnSpPr>
          <p:nvPr/>
        </p:nvCxnSpPr>
        <p:spPr>
          <a:xfrm>
            <a:off x="7665705" y="4073233"/>
            <a:ext cx="827749" cy="100239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文字方塊 91"/>
          <p:cNvSpPr txBox="1"/>
          <p:nvPr/>
        </p:nvSpPr>
        <p:spPr>
          <a:xfrm>
            <a:off x="8192798" y="5075628"/>
            <a:ext cx="601312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CCTV-1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97" name="直線單箭頭接點 96"/>
          <p:cNvCxnSpPr>
            <a:endCxn id="98" idx="0"/>
          </p:cNvCxnSpPr>
          <p:nvPr/>
        </p:nvCxnSpPr>
        <p:spPr>
          <a:xfrm flipH="1">
            <a:off x="6942457" y="4247800"/>
            <a:ext cx="372743" cy="198925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文字方塊 97"/>
          <p:cNvSpPr txBox="1"/>
          <p:nvPr/>
        </p:nvSpPr>
        <p:spPr>
          <a:xfrm>
            <a:off x="6641801" y="6237054"/>
            <a:ext cx="601312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CCTV-4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00" name="直線單箭頭接點 99"/>
          <p:cNvCxnSpPr>
            <a:endCxn id="103" idx="0"/>
          </p:cNvCxnSpPr>
          <p:nvPr/>
        </p:nvCxnSpPr>
        <p:spPr>
          <a:xfrm flipH="1">
            <a:off x="502265" y="4180342"/>
            <a:ext cx="420468" cy="72089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文字方塊 102"/>
          <p:cNvSpPr txBox="1"/>
          <p:nvPr/>
        </p:nvSpPr>
        <p:spPr>
          <a:xfrm>
            <a:off x="201609" y="4901234"/>
            <a:ext cx="601312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光柵</a:t>
            </a:r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-1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5" name="文字方塊 104"/>
          <p:cNvSpPr txBox="1"/>
          <p:nvPr/>
        </p:nvSpPr>
        <p:spPr>
          <a:xfrm>
            <a:off x="156328" y="5126396"/>
            <a:ext cx="68330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X0107</a:t>
            </a:r>
            <a:endParaRPr lang="zh-TW" altLang="en-US" sz="10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08" name="直線單箭頭接點 107"/>
          <p:cNvCxnSpPr>
            <a:endCxn id="109" idx="0"/>
          </p:cNvCxnSpPr>
          <p:nvPr/>
        </p:nvCxnSpPr>
        <p:spPr>
          <a:xfrm flipH="1">
            <a:off x="1759097" y="4901234"/>
            <a:ext cx="219332" cy="93495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文字方塊 108"/>
          <p:cNvSpPr txBox="1"/>
          <p:nvPr/>
        </p:nvSpPr>
        <p:spPr>
          <a:xfrm>
            <a:off x="1458441" y="5836188"/>
            <a:ext cx="601312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光柵</a:t>
            </a:r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-2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1" name="文字方塊 110"/>
          <p:cNvSpPr txBox="1"/>
          <p:nvPr/>
        </p:nvSpPr>
        <p:spPr>
          <a:xfrm>
            <a:off x="1413160" y="6061350"/>
            <a:ext cx="68330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X0307</a:t>
            </a:r>
            <a:endParaRPr lang="zh-TW" altLang="en-US" sz="10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12" name="直線單箭頭接點 111"/>
          <p:cNvCxnSpPr>
            <a:endCxn id="115" idx="0"/>
          </p:cNvCxnSpPr>
          <p:nvPr/>
        </p:nvCxnSpPr>
        <p:spPr>
          <a:xfrm flipH="1">
            <a:off x="4775618" y="4180343"/>
            <a:ext cx="282029" cy="78650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文字方塊 114"/>
          <p:cNvSpPr txBox="1"/>
          <p:nvPr/>
        </p:nvSpPr>
        <p:spPr>
          <a:xfrm>
            <a:off x="4474962" y="4966849"/>
            <a:ext cx="601312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光柵</a:t>
            </a:r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-3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6" name="文字方塊 115"/>
          <p:cNvSpPr txBox="1"/>
          <p:nvPr/>
        </p:nvSpPr>
        <p:spPr>
          <a:xfrm>
            <a:off x="4429681" y="5192011"/>
            <a:ext cx="68330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X0507</a:t>
            </a:r>
            <a:endParaRPr lang="zh-TW" altLang="en-US" sz="10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17" name="直線單箭頭接點 116"/>
          <p:cNvCxnSpPr>
            <a:endCxn id="118" idx="0"/>
          </p:cNvCxnSpPr>
          <p:nvPr/>
        </p:nvCxnSpPr>
        <p:spPr>
          <a:xfrm flipH="1">
            <a:off x="5988980" y="5008956"/>
            <a:ext cx="141014" cy="908429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文字方塊 117"/>
          <p:cNvSpPr txBox="1"/>
          <p:nvPr/>
        </p:nvSpPr>
        <p:spPr>
          <a:xfrm>
            <a:off x="5688324" y="5917385"/>
            <a:ext cx="601312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光柵</a:t>
            </a:r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-4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9" name="文字方塊 118"/>
          <p:cNvSpPr txBox="1"/>
          <p:nvPr/>
        </p:nvSpPr>
        <p:spPr>
          <a:xfrm>
            <a:off x="5643043" y="6142547"/>
            <a:ext cx="68330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X0707</a:t>
            </a:r>
            <a:endParaRPr lang="zh-TW" altLang="en-US" sz="10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120" name="表格 1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8025976"/>
              </p:ext>
            </p:extLst>
          </p:nvPr>
        </p:nvGraphicFramePr>
        <p:xfrm>
          <a:off x="2516809" y="577646"/>
          <a:ext cx="2048479" cy="1080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02312"/>
                <a:gridCol w="1546167"/>
              </a:tblGrid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IO</a:t>
                      </a:r>
                      <a:r>
                        <a:rPr lang="zh-TW" altLang="en-US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00" u="none" strike="noStrike" dirty="0" smtClea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中文名稱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effectLst/>
                          <a:latin typeface="標楷體"/>
                        </a:rPr>
                        <a:t>X051C</a:t>
                      </a:r>
                      <a:endParaRPr lang="en-US" sz="1200" b="0" i="0" u="none" strike="noStrike" dirty="0">
                        <a:effectLst/>
                        <a:latin typeface="標楷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FFU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effectLst/>
                          <a:latin typeface="標楷體"/>
                        </a:rPr>
                        <a:t>X051D</a:t>
                      </a:r>
                      <a:endParaRPr lang="en-US" sz="1200" b="0" i="0" u="none" strike="noStrike" dirty="0">
                        <a:effectLst/>
                        <a:latin typeface="標楷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離子</a:t>
                      </a: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Bar-</a:t>
                      </a:r>
                      <a:r>
                        <a:rPr lang="zh-TW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離子水平警報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effectLst/>
                          <a:latin typeface="標楷體"/>
                        </a:rPr>
                        <a:t>X051E</a:t>
                      </a:r>
                      <a:endParaRPr lang="en-US" sz="1200" b="0" i="0" u="none" strike="noStrike" dirty="0">
                        <a:effectLst/>
                        <a:latin typeface="標楷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離子</a:t>
                      </a: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Bar-</a:t>
                      </a:r>
                      <a:r>
                        <a:rPr lang="zh-TW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狀況警報</a:t>
                      </a: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effectLst/>
                          <a:latin typeface="標楷體"/>
                        </a:rPr>
                        <a:t>X051F</a:t>
                      </a:r>
                      <a:endParaRPr lang="en-US" sz="1200" b="0" i="0" u="none" strike="noStrike" dirty="0">
                        <a:effectLst/>
                        <a:latin typeface="標楷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離子</a:t>
                      </a: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Bar </a:t>
                      </a:r>
                      <a:r>
                        <a:rPr lang="zh-TW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警報輸入</a:t>
                      </a: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cxnSp>
        <p:nvCxnSpPr>
          <p:cNvPr id="121" name="直線單箭頭接點 120"/>
          <p:cNvCxnSpPr/>
          <p:nvPr/>
        </p:nvCxnSpPr>
        <p:spPr>
          <a:xfrm flipV="1">
            <a:off x="2228496" y="2596019"/>
            <a:ext cx="652559" cy="58995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文字方塊 122"/>
          <p:cNvSpPr txBox="1"/>
          <p:nvPr/>
        </p:nvSpPr>
        <p:spPr>
          <a:xfrm>
            <a:off x="2580399" y="2380575"/>
            <a:ext cx="601312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FFU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6" name="文字方塊 125"/>
          <p:cNvSpPr txBox="1"/>
          <p:nvPr/>
        </p:nvSpPr>
        <p:spPr>
          <a:xfrm>
            <a:off x="2526695" y="2139720"/>
            <a:ext cx="68330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X031C</a:t>
            </a:r>
            <a:endParaRPr lang="zh-TW" altLang="en-US" sz="10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127" name="表格 1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789342"/>
              </p:ext>
            </p:extLst>
          </p:nvPr>
        </p:nvGraphicFramePr>
        <p:xfrm>
          <a:off x="4664084" y="613667"/>
          <a:ext cx="2048479" cy="1080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02312"/>
                <a:gridCol w="1546167"/>
              </a:tblGrid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IO</a:t>
                      </a:r>
                      <a:r>
                        <a:rPr lang="zh-TW" altLang="en-US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00" u="none" strike="noStrike" dirty="0" smtClea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中文名稱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Y0000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離子</a:t>
                      </a: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Bar-</a:t>
                      </a:r>
                      <a:r>
                        <a:rPr lang="zh-TW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靜電消除停止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Y0000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Y0000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Y0000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cxnSp>
        <p:nvCxnSpPr>
          <p:cNvPr id="129" name="直線單箭頭接點 128"/>
          <p:cNvCxnSpPr/>
          <p:nvPr/>
        </p:nvCxnSpPr>
        <p:spPr>
          <a:xfrm flipH="1" flipV="1">
            <a:off x="1013156" y="2816684"/>
            <a:ext cx="666015" cy="27699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文字方塊 131"/>
          <p:cNvSpPr txBox="1"/>
          <p:nvPr/>
        </p:nvSpPr>
        <p:spPr>
          <a:xfrm>
            <a:off x="712499" y="2601238"/>
            <a:ext cx="601312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離子</a:t>
            </a:r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Bar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3" name="文字方塊 132"/>
          <p:cNvSpPr txBox="1"/>
          <p:nvPr/>
        </p:nvSpPr>
        <p:spPr>
          <a:xfrm>
            <a:off x="409405" y="2019550"/>
            <a:ext cx="683307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X031D</a:t>
            </a:r>
          </a:p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X031E</a:t>
            </a:r>
          </a:p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X031F</a:t>
            </a:r>
            <a:endParaRPr lang="zh-TW" altLang="en-US" sz="10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5" name="文字方塊 134"/>
          <p:cNvSpPr txBox="1"/>
          <p:nvPr/>
        </p:nvSpPr>
        <p:spPr>
          <a:xfrm>
            <a:off x="967255" y="2017076"/>
            <a:ext cx="68330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Y</a:t>
            </a:r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0000</a:t>
            </a:r>
            <a:endParaRPr lang="zh-TW" altLang="en-US" sz="10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8" name="文字方塊 137"/>
          <p:cNvSpPr txBox="1"/>
          <p:nvPr/>
        </p:nvSpPr>
        <p:spPr>
          <a:xfrm>
            <a:off x="639699" y="1710785"/>
            <a:ext cx="856148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真空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參考</a:t>
            </a:r>
            <a:endParaRPr lang="en-US" altLang="zh-TW" sz="8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WTR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配電盤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1476156" y="2672841"/>
            <a:ext cx="1167194" cy="21544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左後 </a:t>
            </a:r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IO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一組 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" name="直線接點 2"/>
          <p:cNvCxnSpPr/>
          <p:nvPr/>
        </p:nvCxnSpPr>
        <p:spPr>
          <a:xfrm>
            <a:off x="1346679" y="3273764"/>
            <a:ext cx="2410677" cy="57433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/>
          <p:nvPr/>
        </p:nvCxnSpPr>
        <p:spPr>
          <a:xfrm>
            <a:off x="3757356" y="3848100"/>
            <a:ext cx="1" cy="179528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字方塊 52"/>
          <p:cNvSpPr txBox="1"/>
          <p:nvPr/>
        </p:nvSpPr>
        <p:spPr>
          <a:xfrm>
            <a:off x="2404131" y="4196557"/>
            <a:ext cx="953848" cy="21544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右前  </a:t>
            </a:r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IO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一組 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4523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/>
          <p:cNvSpPr txBox="1">
            <a:spLocks/>
          </p:cNvSpPr>
          <p:nvPr/>
        </p:nvSpPr>
        <p:spPr>
          <a:xfrm>
            <a:off x="1805107" y="0"/>
            <a:ext cx="7070342" cy="55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zh-TW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MAA(</a:t>
            </a:r>
            <a:r>
              <a:rPr lang="en-US" altLang="zh-TW" sz="3200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Interlock+EM</a:t>
            </a:r>
            <a:r>
              <a:rPr lang="en-US" altLang="zh-TW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日光燈</a:t>
            </a:r>
            <a:r>
              <a:rPr lang="en-US" altLang="zh-TW" sz="3200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+Fan</a:t>
            </a:r>
            <a:r>
              <a:rPr lang="en-US" altLang="zh-TW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3226628" y="6518339"/>
            <a:ext cx="2794429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順序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面對操作面，順時鐘方向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63" name="表格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8229413"/>
              </p:ext>
            </p:extLst>
          </p:nvPr>
        </p:nvGraphicFramePr>
        <p:xfrm>
          <a:off x="227968" y="574880"/>
          <a:ext cx="2048479" cy="1080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02312"/>
                <a:gridCol w="1546167"/>
              </a:tblGrid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IO</a:t>
                      </a:r>
                      <a:r>
                        <a:rPr lang="zh-TW" altLang="en-US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00" u="none" strike="noStrike" dirty="0" smtClea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中文名稱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effectLst/>
                          <a:latin typeface="標楷體"/>
                        </a:rPr>
                        <a:t>X011A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EM-1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effectLst/>
                          <a:latin typeface="標楷體"/>
                        </a:rPr>
                        <a:t>X011B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EM-2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effectLst/>
                          <a:latin typeface="標楷體"/>
                        </a:rPr>
                        <a:t>X051A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EM-3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effectLst/>
                          <a:latin typeface="標楷體"/>
                        </a:rPr>
                        <a:t>X051B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EM-4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117" y="2537939"/>
            <a:ext cx="3449725" cy="344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6939" y="2537939"/>
            <a:ext cx="3449725" cy="344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26" name="直線單箭頭接點 25"/>
          <p:cNvCxnSpPr/>
          <p:nvPr/>
        </p:nvCxnSpPr>
        <p:spPr>
          <a:xfrm flipH="1">
            <a:off x="2855432" y="3930953"/>
            <a:ext cx="444721" cy="198568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/>
          <p:cNvSpPr txBox="1"/>
          <p:nvPr/>
        </p:nvSpPr>
        <p:spPr>
          <a:xfrm>
            <a:off x="2427317" y="5916636"/>
            <a:ext cx="728772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Interlock-1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9635" y="5333037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前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3527367" y="2652623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</a:t>
            </a:r>
          </a:p>
        </p:txBody>
      </p:sp>
      <p:sp>
        <p:nvSpPr>
          <p:cNvPr id="30" name="文字方塊 29"/>
          <p:cNvSpPr txBox="1"/>
          <p:nvPr/>
        </p:nvSpPr>
        <p:spPr>
          <a:xfrm>
            <a:off x="4017814" y="5527476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右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81417" y="2894474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左</a:t>
            </a:r>
          </a:p>
        </p:txBody>
      </p:sp>
      <p:cxnSp>
        <p:nvCxnSpPr>
          <p:cNvPr id="32" name="直線單箭頭接點 31"/>
          <p:cNvCxnSpPr>
            <a:endCxn id="33" idx="0"/>
          </p:cNvCxnSpPr>
          <p:nvPr/>
        </p:nvCxnSpPr>
        <p:spPr>
          <a:xfrm>
            <a:off x="3629025" y="3870325"/>
            <a:ext cx="722005" cy="56607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字方塊 32"/>
          <p:cNvSpPr txBox="1"/>
          <p:nvPr/>
        </p:nvSpPr>
        <p:spPr>
          <a:xfrm>
            <a:off x="4050374" y="4436400"/>
            <a:ext cx="601312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EM2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8051483" y="5710665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左</a:t>
            </a:r>
          </a:p>
        </p:txBody>
      </p:sp>
      <p:sp>
        <p:nvSpPr>
          <p:cNvPr id="35" name="文字方塊 34"/>
          <p:cNvSpPr txBox="1"/>
          <p:nvPr/>
        </p:nvSpPr>
        <p:spPr>
          <a:xfrm>
            <a:off x="5057647" y="2567292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右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340278" y="5417521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</a:t>
            </a:r>
          </a:p>
        </p:txBody>
      </p:sp>
      <p:sp>
        <p:nvSpPr>
          <p:cNvPr id="37" name="文字方塊 36"/>
          <p:cNvSpPr txBox="1"/>
          <p:nvPr/>
        </p:nvSpPr>
        <p:spPr>
          <a:xfrm>
            <a:off x="7525789" y="2659585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前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43" name="直線單箭頭接點 42"/>
          <p:cNvCxnSpPr>
            <a:endCxn id="44" idx="0"/>
          </p:cNvCxnSpPr>
          <p:nvPr/>
        </p:nvCxnSpPr>
        <p:spPr>
          <a:xfrm flipH="1">
            <a:off x="502265" y="3671173"/>
            <a:ext cx="1366498" cy="98067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字方塊 43"/>
          <p:cNvSpPr txBox="1"/>
          <p:nvPr/>
        </p:nvSpPr>
        <p:spPr>
          <a:xfrm>
            <a:off x="201609" y="4651844"/>
            <a:ext cx="601312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EM-1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156328" y="4877006"/>
            <a:ext cx="68330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X0000</a:t>
            </a:r>
            <a:endParaRPr lang="zh-TW" altLang="en-US" sz="10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1" name="文字方塊 50"/>
          <p:cNvSpPr txBox="1"/>
          <p:nvPr/>
        </p:nvSpPr>
        <p:spPr>
          <a:xfrm>
            <a:off x="3977903" y="4621067"/>
            <a:ext cx="68330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X0000</a:t>
            </a:r>
            <a:endParaRPr lang="zh-TW" altLang="en-US" sz="10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57" name="表格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568978"/>
              </p:ext>
            </p:extLst>
          </p:nvPr>
        </p:nvGraphicFramePr>
        <p:xfrm>
          <a:off x="2428875" y="569165"/>
          <a:ext cx="2053459" cy="1080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07292"/>
                <a:gridCol w="1546167"/>
              </a:tblGrid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IO</a:t>
                      </a:r>
                      <a:r>
                        <a:rPr lang="zh-TW" altLang="en-US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00" u="none" strike="noStrike" dirty="0" smtClea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中文名稱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標楷體"/>
                          <a:ea typeface="+mn-ea"/>
                          <a:cs typeface="+mn-cs"/>
                          <a:sym typeface="Arial"/>
                        </a:rPr>
                        <a:t>X031A</a:t>
                      </a:r>
                      <a:endParaRPr lang="en-US" altLang="zh-TW" sz="1200" b="0" i="0" u="none" strike="noStrike" cap="none" dirty="0">
                        <a:solidFill>
                          <a:schemeClr val="tx1"/>
                        </a:solidFill>
                        <a:effectLst/>
                        <a:latin typeface="標楷體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Interlock-1</a:t>
                      </a:r>
                      <a:endParaRPr lang="zh-TW" altLang="en-US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標楷體"/>
                          <a:ea typeface="+mn-ea"/>
                          <a:cs typeface="+mn-cs"/>
                          <a:sym typeface="Arial"/>
                        </a:rPr>
                        <a:t>X031B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Interlock-2</a:t>
                      </a:r>
                      <a:endParaRPr lang="zh-TW" altLang="en-US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effectLst/>
                          <a:latin typeface="標楷體"/>
                        </a:rPr>
                        <a:t>X071A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Interlock-3</a:t>
                      </a:r>
                      <a:endParaRPr lang="zh-TW" altLang="en-US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effectLst/>
                          <a:latin typeface="標楷體"/>
                        </a:rPr>
                        <a:t>X071B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Interlock-4</a:t>
                      </a:r>
                      <a:endParaRPr lang="zh-TW" altLang="en-US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cxnSp>
        <p:nvCxnSpPr>
          <p:cNvPr id="65" name="直線單箭頭接點 64"/>
          <p:cNvCxnSpPr/>
          <p:nvPr/>
        </p:nvCxnSpPr>
        <p:spPr>
          <a:xfrm flipV="1">
            <a:off x="3424844" y="3408243"/>
            <a:ext cx="768248" cy="46208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字方塊 65"/>
          <p:cNvSpPr txBox="1"/>
          <p:nvPr/>
        </p:nvSpPr>
        <p:spPr>
          <a:xfrm>
            <a:off x="3828706" y="3171473"/>
            <a:ext cx="728772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Interlock-2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2" name="文字方塊 71"/>
          <p:cNvSpPr txBox="1"/>
          <p:nvPr/>
        </p:nvSpPr>
        <p:spPr>
          <a:xfrm>
            <a:off x="2447843" y="6144736"/>
            <a:ext cx="68330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X031A</a:t>
            </a:r>
            <a:endParaRPr lang="zh-TW" altLang="en-US" sz="10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3" name="文字方塊 72"/>
          <p:cNvSpPr txBox="1"/>
          <p:nvPr/>
        </p:nvSpPr>
        <p:spPr>
          <a:xfrm>
            <a:off x="3846344" y="2936584"/>
            <a:ext cx="68330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X031B</a:t>
            </a:r>
            <a:endParaRPr lang="zh-TW" altLang="en-US" sz="10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74" name="直線單箭頭接點 73"/>
          <p:cNvCxnSpPr>
            <a:endCxn id="76" idx="0"/>
          </p:cNvCxnSpPr>
          <p:nvPr/>
        </p:nvCxnSpPr>
        <p:spPr>
          <a:xfrm>
            <a:off x="7748603" y="3873411"/>
            <a:ext cx="722005" cy="56607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方塊 75"/>
          <p:cNvSpPr txBox="1"/>
          <p:nvPr/>
        </p:nvSpPr>
        <p:spPr>
          <a:xfrm>
            <a:off x="8169952" y="4439486"/>
            <a:ext cx="601312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EM4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9" name="文字方塊 78"/>
          <p:cNvSpPr txBox="1"/>
          <p:nvPr/>
        </p:nvSpPr>
        <p:spPr>
          <a:xfrm>
            <a:off x="8097481" y="4624153"/>
            <a:ext cx="68330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X0000</a:t>
            </a:r>
            <a:endParaRPr lang="zh-TW" altLang="en-US" sz="10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80" name="直線單箭頭接點 79"/>
          <p:cNvCxnSpPr>
            <a:endCxn id="81" idx="0"/>
          </p:cNvCxnSpPr>
          <p:nvPr/>
        </p:nvCxnSpPr>
        <p:spPr>
          <a:xfrm flipH="1">
            <a:off x="4861592" y="3671173"/>
            <a:ext cx="1219168" cy="129798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字方塊 80"/>
          <p:cNvSpPr txBox="1"/>
          <p:nvPr/>
        </p:nvSpPr>
        <p:spPr>
          <a:xfrm>
            <a:off x="4560936" y="4969158"/>
            <a:ext cx="601312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EM-3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2" name="文字方塊 81"/>
          <p:cNvSpPr txBox="1"/>
          <p:nvPr/>
        </p:nvSpPr>
        <p:spPr>
          <a:xfrm>
            <a:off x="4515655" y="5194320"/>
            <a:ext cx="68330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X0000</a:t>
            </a:r>
            <a:endParaRPr lang="zh-TW" altLang="en-US" sz="10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83" name="直線單箭頭接點 82"/>
          <p:cNvCxnSpPr/>
          <p:nvPr/>
        </p:nvCxnSpPr>
        <p:spPr>
          <a:xfrm flipH="1">
            <a:off x="7049390" y="3936350"/>
            <a:ext cx="444721" cy="198568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字方塊 89"/>
          <p:cNvSpPr txBox="1"/>
          <p:nvPr/>
        </p:nvSpPr>
        <p:spPr>
          <a:xfrm>
            <a:off x="6621275" y="5922033"/>
            <a:ext cx="728772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Interlock-3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3" name="文字方塊 92"/>
          <p:cNvSpPr txBox="1"/>
          <p:nvPr/>
        </p:nvSpPr>
        <p:spPr>
          <a:xfrm>
            <a:off x="6641801" y="6150133"/>
            <a:ext cx="68330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X0000</a:t>
            </a:r>
            <a:endParaRPr lang="zh-TW" altLang="en-US" sz="10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95" name="直線單箭頭接點 94"/>
          <p:cNvCxnSpPr>
            <a:endCxn id="97" idx="2"/>
          </p:cNvCxnSpPr>
          <p:nvPr/>
        </p:nvCxnSpPr>
        <p:spPr>
          <a:xfrm flipV="1">
            <a:off x="7598416" y="3388879"/>
            <a:ext cx="768248" cy="445289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文字方塊 95"/>
          <p:cNvSpPr txBox="1"/>
          <p:nvPr/>
        </p:nvSpPr>
        <p:spPr>
          <a:xfrm>
            <a:off x="8019916" y="2900427"/>
            <a:ext cx="68330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X0000</a:t>
            </a:r>
            <a:endParaRPr lang="zh-TW" altLang="en-US" sz="10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7" name="文字方塊 96"/>
          <p:cNvSpPr txBox="1"/>
          <p:nvPr/>
        </p:nvSpPr>
        <p:spPr>
          <a:xfrm>
            <a:off x="8002278" y="3173435"/>
            <a:ext cx="728772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Interlock-4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98" name="直線單箭頭接點 97"/>
          <p:cNvCxnSpPr>
            <a:endCxn id="99" idx="2"/>
          </p:cNvCxnSpPr>
          <p:nvPr/>
        </p:nvCxnSpPr>
        <p:spPr>
          <a:xfrm flipH="1" flipV="1">
            <a:off x="1205363" y="2393930"/>
            <a:ext cx="922696" cy="101431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文字方塊 98"/>
          <p:cNvSpPr txBox="1"/>
          <p:nvPr/>
        </p:nvSpPr>
        <p:spPr>
          <a:xfrm>
            <a:off x="904707" y="2178486"/>
            <a:ext cx="601312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日光燈</a:t>
            </a:r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-1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00" name="直線單箭頭接點 99"/>
          <p:cNvCxnSpPr>
            <a:endCxn id="101" idx="2"/>
          </p:cNvCxnSpPr>
          <p:nvPr/>
        </p:nvCxnSpPr>
        <p:spPr>
          <a:xfrm flipH="1" flipV="1">
            <a:off x="5640934" y="2393930"/>
            <a:ext cx="709990" cy="101431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文字方塊 100"/>
          <p:cNvSpPr txBox="1"/>
          <p:nvPr/>
        </p:nvSpPr>
        <p:spPr>
          <a:xfrm>
            <a:off x="5340278" y="2178486"/>
            <a:ext cx="601312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日光燈</a:t>
            </a:r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-2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1227691" y="5659719"/>
            <a:ext cx="601312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Fan</a:t>
            </a:r>
            <a:r>
              <a:rPr lang="en-US" altLang="zh-TW" sz="800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-1</a:t>
            </a:r>
            <a:endParaRPr lang="zh-TW" altLang="en-US" sz="8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48" name="直線單箭頭接點 47"/>
          <p:cNvCxnSpPr>
            <a:endCxn id="46" idx="0"/>
          </p:cNvCxnSpPr>
          <p:nvPr/>
        </p:nvCxnSpPr>
        <p:spPr>
          <a:xfrm flipH="1">
            <a:off x="1528347" y="5000116"/>
            <a:ext cx="492816" cy="65960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字方塊 49"/>
          <p:cNvSpPr txBox="1"/>
          <p:nvPr/>
        </p:nvSpPr>
        <p:spPr>
          <a:xfrm>
            <a:off x="5419745" y="5780619"/>
            <a:ext cx="601312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Fan</a:t>
            </a:r>
            <a:r>
              <a:rPr lang="en-US" altLang="zh-TW" sz="800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-2</a:t>
            </a:r>
            <a:endParaRPr lang="zh-TW" altLang="en-US" sz="8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52" name="直線單箭頭接點 51"/>
          <p:cNvCxnSpPr>
            <a:endCxn id="50" idx="0"/>
          </p:cNvCxnSpPr>
          <p:nvPr/>
        </p:nvCxnSpPr>
        <p:spPr>
          <a:xfrm flipH="1">
            <a:off x="5720401" y="5000116"/>
            <a:ext cx="492816" cy="78050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243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/>
          <p:cNvSpPr txBox="1">
            <a:spLocks/>
          </p:cNvSpPr>
          <p:nvPr/>
        </p:nvSpPr>
        <p:spPr>
          <a:xfrm>
            <a:off x="1805107" y="0"/>
            <a:ext cx="7070342" cy="55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zh-TW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MAA(</a:t>
            </a:r>
            <a:r>
              <a:rPr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操作面板</a:t>
            </a:r>
            <a:r>
              <a:rPr lang="en-US" altLang="zh-TW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3226628" y="6518339"/>
            <a:ext cx="2794429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順序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面對操作面，順時鐘方向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63" name="表格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7864635"/>
              </p:ext>
            </p:extLst>
          </p:nvPr>
        </p:nvGraphicFramePr>
        <p:xfrm>
          <a:off x="142243" y="593930"/>
          <a:ext cx="2048479" cy="1944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02312"/>
                <a:gridCol w="1546167"/>
              </a:tblGrid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IO</a:t>
                      </a:r>
                      <a:r>
                        <a:rPr lang="zh-TW" altLang="en-US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00" u="none" strike="noStrike" dirty="0" smtClea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中文名稱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effectLst/>
                          <a:latin typeface="標楷體"/>
                        </a:rPr>
                        <a:t>X011C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啟動</a:t>
                      </a: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effectLst/>
                          <a:latin typeface="標楷體"/>
                        </a:rPr>
                        <a:t>X011D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暫停</a:t>
                      </a: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effectLst/>
                          <a:latin typeface="標楷體"/>
                        </a:rPr>
                        <a:t>X011E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故障清除</a:t>
                      </a: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effectLst/>
                          <a:latin typeface="標楷體"/>
                        </a:rPr>
                        <a:t>X011F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螢幕切換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effectLst/>
                          <a:latin typeface="標楷體"/>
                        </a:rPr>
                        <a:t>X031C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Key</a:t>
                      </a:r>
                      <a:endParaRPr lang="zh-TW" altLang="en-US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effectLst/>
                          <a:latin typeface="標楷體"/>
                        </a:rPr>
                        <a:t>X0000</a:t>
                      </a:r>
                      <a:endParaRPr lang="en-US" sz="1200" b="0" i="0" u="none" strike="noStrike" dirty="0">
                        <a:effectLst/>
                        <a:latin typeface="標楷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effectLst/>
                          <a:latin typeface="標楷體"/>
                        </a:rPr>
                        <a:t>X0000</a:t>
                      </a:r>
                      <a:endParaRPr lang="en-US" sz="1200" b="0" i="0" u="none" strike="noStrike" dirty="0">
                        <a:effectLst/>
                        <a:latin typeface="標楷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effectLst/>
                          <a:latin typeface="標楷體"/>
                        </a:rPr>
                        <a:t>X0000</a:t>
                      </a:r>
                      <a:endParaRPr lang="en-US" sz="1200" b="0" i="0" u="none" strike="noStrike" dirty="0">
                        <a:effectLst/>
                        <a:latin typeface="標楷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976" y="2753339"/>
            <a:ext cx="3093293" cy="36243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6" name="文字方塊 45"/>
          <p:cNvSpPr txBox="1"/>
          <p:nvPr/>
        </p:nvSpPr>
        <p:spPr>
          <a:xfrm>
            <a:off x="1862308" y="6136172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前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1622" y="2710756"/>
            <a:ext cx="1304439" cy="1390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8" name="文字方塊 47"/>
          <p:cNvSpPr txBox="1"/>
          <p:nvPr/>
        </p:nvSpPr>
        <p:spPr>
          <a:xfrm>
            <a:off x="4270011" y="3200757"/>
            <a:ext cx="758079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X011C</a:t>
            </a:r>
            <a:endParaRPr lang="en-US" altLang="zh-TW" sz="12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X031C</a:t>
            </a:r>
          </a:p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</a:t>
            </a:r>
          </a:p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Y0000</a:t>
            </a:r>
          </a:p>
        </p:txBody>
      </p:sp>
      <p:cxnSp>
        <p:nvCxnSpPr>
          <p:cNvPr id="49" name="直線單箭頭接點 48"/>
          <p:cNvCxnSpPr>
            <a:endCxn id="47" idx="1"/>
          </p:cNvCxnSpPr>
          <p:nvPr/>
        </p:nvCxnSpPr>
        <p:spPr>
          <a:xfrm flipV="1">
            <a:off x="1504950" y="3405920"/>
            <a:ext cx="2466672" cy="92795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0048" y="2710756"/>
            <a:ext cx="3085401" cy="36669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0" name="文字方塊 49"/>
          <p:cNvSpPr txBox="1"/>
          <p:nvPr/>
        </p:nvSpPr>
        <p:spPr>
          <a:xfrm>
            <a:off x="7191432" y="6129493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</a:t>
            </a:r>
          </a:p>
        </p:txBody>
      </p:sp>
      <p:pic>
        <p:nvPicPr>
          <p:cNvPr id="53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9722" y="4549081"/>
            <a:ext cx="1304439" cy="1390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4" name="文字方塊 53"/>
          <p:cNvSpPr txBox="1"/>
          <p:nvPr/>
        </p:nvSpPr>
        <p:spPr>
          <a:xfrm>
            <a:off x="4308111" y="5039082"/>
            <a:ext cx="758079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</a:t>
            </a:r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0000</a:t>
            </a:r>
            <a:endParaRPr lang="en-US" altLang="zh-TW" sz="12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2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</a:t>
            </a:r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0000</a:t>
            </a:r>
          </a:p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Y0000</a:t>
            </a:r>
          </a:p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Y0000</a:t>
            </a:r>
          </a:p>
        </p:txBody>
      </p:sp>
      <p:cxnSp>
        <p:nvCxnSpPr>
          <p:cNvPr id="55" name="直線單箭頭接點 54"/>
          <p:cNvCxnSpPr>
            <a:endCxn id="53" idx="3"/>
          </p:cNvCxnSpPr>
          <p:nvPr/>
        </p:nvCxnSpPr>
        <p:spPr>
          <a:xfrm flipH="1">
            <a:off x="5314161" y="4219575"/>
            <a:ext cx="1315239" cy="102467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9" name="表格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1587581"/>
              </p:ext>
            </p:extLst>
          </p:nvPr>
        </p:nvGraphicFramePr>
        <p:xfrm>
          <a:off x="2313943" y="593930"/>
          <a:ext cx="2048479" cy="1944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02312"/>
                <a:gridCol w="1546167"/>
              </a:tblGrid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IO</a:t>
                      </a:r>
                      <a:r>
                        <a:rPr lang="zh-TW" altLang="en-US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00" u="none" strike="noStrike" dirty="0" smtClea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中文名稱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標楷體"/>
                          <a:ea typeface="+mn-ea"/>
                          <a:cs typeface="+mn-cs"/>
                          <a:sym typeface="Arial"/>
                        </a:rPr>
                        <a:t>Y2100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b="0" i="0" u="none" strike="noStrike" dirty="0">
                          <a:effectLst/>
                          <a:latin typeface="標楷體"/>
                        </a:rPr>
                        <a:t>啟動燈</a:t>
                      </a: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標楷體"/>
                          <a:ea typeface="+mn-ea"/>
                          <a:cs typeface="+mn-cs"/>
                          <a:sym typeface="Arial"/>
                        </a:rPr>
                        <a:t>Y2101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b="0" i="0" u="none" strike="noStrike" dirty="0">
                          <a:effectLst/>
                          <a:latin typeface="標楷體"/>
                        </a:rPr>
                        <a:t>暫停燈</a:t>
                      </a: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標楷體"/>
                          <a:ea typeface="+mn-ea"/>
                          <a:cs typeface="+mn-cs"/>
                          <a:sym typeface="Arial"/>
                        </a:rPr>
                        <a:t>Y2102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b="0" i="0" u="none" strike="noStrike" dirty="0">
                          <a:effectLst/>
                          <a:latin typeface="標楷體"/>
                        </a:rPr>
                        <a:t>故障清除燈</a:t>
                      </a: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標楷體"/>
                          <a:ea typeface="+mn-ea"/>
                          <a:cs typeface="+mn-cs"/>
                          <a:sym typeface="Arial"/>
                        </a:rPr>
                        <a:t>Y2103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b="0" i="0" u="none" strike="noStrike" dirty="0">
                          <a:effectLst/>
                          <a:latin typeface="標楷體"/>
                        </a:rPr>
                        <a:t>日光燈</a:t>
                      </a: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標楷體"/>
                          <a:ea typeface="+mn-ea"/>
                          <a:cs typeface="+mn-cs"/>
                          <a:sym typeface="Arial"/>
                        </a:rPr>
                        <a:t>Y2104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b="0" i="0" u="none" strike="noStrike" dirty="0">
                          <a:effectLst/>
                          <a:latin typeface="標楷體"/>
                        </a:rPr>
                        <a:t>四色燈 綠</a:t>
                      </a: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標楷體"/>
                          <a:ea typeface="+mn-ea"/>
                          <a:cs typeface="+mn-cs"/>
                          <a:sym typeface="Arial"/>
                        </a:rPr>
                        <a:t>Y2105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b="0" i="0" u="none" strike="noStrike" dirty="0">
                          <a:effectLst/>
                          <a:latin typeface="標楷體"/>
                        </a:rPr>
                        <a:t>四色燈 黃</a:t>
                      </a: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標楷體"/>
                          <a:ea typeface="+mn-ea"/>
                          <a:cs typeface="+mn-cs"/>
                          <a:sym typeface="Arial"/>
                        </a:rPr>
                        <a:t>Y2106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b="0" i="0" u="none" strike="noStrike" dirty="0">
                          <a:effectLst/>
                          <a:latin typeface="標楷體"/>
                        </a:rPr>
                        <a:t>四色燈 紅</a:t>
                      </a: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標楷體"/>
                          <a:ea typeface="+mn-ea"/>
                          <a:cs typeface="+mn-cs"/>
                          <a:sym typeface="Arial"/>
                        </a:rPr>
                        <a:t>Y2107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b="0" i="0" u="none" strike="noStrike" dirty="0">
                          <a:effectLst/>
                          <a:latin typeface="標楷體"/>
                        </a:rPr>
                        <a:t>四色燈 藍</a:t>
                      </a: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60" name="表格 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4592671"/>
              </p:ext>
            </p:extLst>
          </p:nvPr>
        </p:nvGraphicFramePr>
        <p:xfrm>
          <a:off x="4771393" y="593930"/>
          <a:ext cx="2048479" cy="1944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02312"/>
                <a:gridCol w="1546167"/>
              </a:tblGrid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IO</a:t>
                      </a:r>
                      <a:r>
                        <a:rPr lang="zh-TW" altLang="en-US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00" u="none" strike="noStrike" dirty="0" smtClea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中文名稱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effectLst/>
                          <a:latin typeface="標楷體"/>
                        </a:rPr>
                        <a:t>X071C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啟動</a:t>
                      </a: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effectLst/>
                          <a:latin typeface="標楷體"/>
                        </a:rPr>
                        <a:t>X071D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暫停</a:t>
                      </a: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effectLst/>
                          <a:latin typeface="標楷體"/>
                        </a:rPr>
                        <a:t>X071E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故障清除</a:t>
                      </a: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0" i="0" u="none" strike="noStrike" dirty="0" smtClean="0">
                          <a:effectLst/>
                          <a:latin typeface="標楷體"/>
                        </a:rPr>
                        <a:t>X071F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螢幕切換</a:t>
                      </a: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effectLst/>
                          <a:latin typeface="標楷體"/>
                        </a:rPr>
                        <a:t>X0000</a:t>
                      </a:r>
                      <a:endParaRPr lang="en-US" sz="1200" b="0" i="0" u="none" strike="noStrike" dirty="0">
                        <a:effectLst/>
                        <a:latin typeface="標楷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effectLst/>
                          <a:latin typeface="標楷體"/>
                        </a:rPr>
                        <a:t>X0000</a:t>
                      </a:r>
                      <a:endParaRPr lang="en-US" sz="1200" b="0" i="0" u="none" strike="noStrike" dirty="0">
                        <a:effectLst/>
                        <a:latin typeface="標楷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effectLst/>
                          <a:latin typeface="標楷體"/>
                        </a:rPr>
                        <a:t>X0000</a:t>
                      </a:r>
                      <a:endParaRPr lang="en-US" sz="1200" b="0" i="0" u="none" strike="noStrike" dirty="0">
                        <a:effectLst/>
                        <a:latin typeface="標楷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effectLst/>
                          <a:latin typeface="標楷體"/>
                        </a:rPr>
                        <a:t>X0000</a:t>
                      </a:r>
                      <a:endParaRPr lang="en-US" sz="1200" b="0" i="0" u="none" strike="noStrike" dirty="0">
                        <a:effectLst/>
                        <a:latin typeface="標楷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61" name="表格 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8883819"/>
              </p:ext>
            </p:extLst>
          </p:nvPr>
        </p:nvGraphicFramePr>
        <p:xfrm>
          <a:off x="6943093" y="593930"/>
          <a:ext cx="2048479" cy="1944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02312"/>
                <a:gridCol w="1546167"/>
              </a:tblGrid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IO</a:t>
                      </a:r>
                      <a:r>
                        <a:rPr lang="zh-TW" altLang="en-US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00" u="none" strike="noStrike" dirty="0" smtClea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中文名稱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effectLst/>
                          <a:latin typeface="標楷體"/>
                        </a:rPr>
                        <a:t>Y0000</a:t>
                      </a:r>
                      <a:endParaRPr lang="en-US" sz="1200" b="0" i="0" u="none" strike="noStrike" dirty="0">
                        <a:effectLst/>
                        <a:latin typeface="標楷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b="0" i="0" u="none" strike="noStrike" dirty="0">
                          <a:effectLst/>
                          <a:latin typeface="標楷體"/>
                        </a:rPr>
                        <a:t>啟動燈</a:t>
                      </a: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effectLst/>
                          <a:latin typeface="標楷體"/>
                        </a:rPr>
                        <a:t>Y0000</a:t>
                      </a:r>
                      <a:endParaRPr lang="en-US" sz="1200" b="0" i="0" u="none" strike="noStrike" dirty="0">
                        <a:effectLst/>
                        <a:latin typeface="標楷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b="0" i="0" u="none" strike="noStrike" dirty="0">
                          <a:effectLst/>
                          <a:latin typeface="標楷體"/>
                        </a:rPr>
                        <a:t>暫停燈</a:t>
                      </a: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effectLst/>
                          <a:latin typeface="標楷體"/>
                        </a:rPr>
                        <a:t>Y0000</a:t>
                      </a:r>
                      <a:endParaRPr lang="en-US" sz="1200" b="0" i="0" u="none" strike="noStrike" dirty="0">
                        <a:effectLst/>
                        <a:latin typeface="標楷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b="0" i="0" u="none" strike="noStrike" dirty="0">
                          <a:effectLst/>
                          <a:latin typeface="標楷體"/>
                        </a:rPr>
                        <a:t>故障清除燈</a:t>
                      </a: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effectLst/>
                          <a:latin typeface="標楷體"/>
                        </a:rPr>
                        <a:t>Y0000</a:t>
                      </a:r>
                      <a:endParaRPr lang="en-US" sz="1200" b="0" i="0" u="none" strike="noStrike" dirty="0">
                        <a:effectLst/>
                        <a:latin typeface="標楷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effectLst/>
                        <a:latin typeface="標楷體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effectLst/>
                          <a:latin typeface="標楷體"/>
                        </a:rPr>
                        <a:t>Y0000</a:t>
                      </a:r>
                      <a:endParaRPr lang="en-US" sz="1200" b="0" i="0" u="none" strike="noStrike" dirty="0">
                        <a:effectLst/>
                        <a:latin typeface="標楷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b="0" i="0" u="none" strike="noStrike" dirty="0">
                          <a:effectLst/>
                          <a:latin typeface="標楷體"/>
                        </a:rPr>
                        <a:t>四色燈 綠</a:t>
                      </a: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effectLst/>
                          <a:latin typeface="標楷體"/>
                        </a:rPr>
                        <a:t>Y0000</a:t>
                      </a:r>
                      <a:endParaRPr lang="en-US" sz="1200" b="0" i="0" u="none" strike="noStrike" dirty="0">
                        <a:effectLst/>
                        <a:latin typeface="標楷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b="0" i="0" u="none" strike="noStrike" dirty="0">
                          <a:effectLst/>
                          <a:latin typeface="標楷體"/>
                        </a:rPr>
                        <a:t>四色燈 黃</a:t>
                      </a: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effectLst/>
                          <a:latin typeface="標楷體"/>
                        </a:rPr>
                        <a:t>Y0000</a:t>
                      </a:r>
                      <a:endParaRPr lang="en-US" sz="1200" b="0" i="0" u="none" strike="noStrike" dirty="0">
                        <a:effectLst/>
                        <a:latin typeface="標楷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b="0" i="0" u="none" strike="noStrike" dirty="0">
                          <a:effectLst/>
                          <a:latin typeface="標楷體"/>
                        </a:rPr>
                        <a:t>四色燈 紅</a:t>
                      </a: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effectLst/>
                          <a:latin typeface="標楷體"/>
                        </a:rPr>
                        <a:t>Y0000</a:t>
                      </a:r>
                      <a:endParaRPr lang="en-US" sz="1200" b="0" i="0" u="none" strike="noStrike" dirty="0">
                        <a:effectLst/>
                        <a:latin typeface="標楷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b="0" i="0" u="none" strike="noStrike" dirty="0">
                          <a:effectLst/>
                          <a:latin typeface="標楷體"/>
                        </a:rPr>
                        <a:t>四色燈 藍</a:t>
                      </a: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9577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570" y="527186"/>
            <a:ext cx="3221753" cy="2864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標題 1"/>
          <p:cNvSpPr txBox="1">
            <a:spLocks/>
          </p:cNvSpPr>
          <p:nvPr/>
        </p:nvSpPr>
        <p:spPr>
          <a:xfrm>
            <a:off x="1805107" y="0"/>
            <a:ext cx="7070342" cy="55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zh-TW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WTR</a:t>
            </a:r>
            <a:endParaRPr lang="zh-TW" alt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7" name="文字方塊 66"/>
          <p:cNvSpPr txBox="1"/>
          <p:nvPr/>
        </p:nvSpPr>
        <p:spPr>
          <a:xfrm>
            <a:off x="3207236" y="6532199"/>
            <a:ext cx="2794429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順序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面對操作面，順時鐘方向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1546337" y="2989564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前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3641692" y="689980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</a:t>
            </a:r>
          </a:p>
        </p:txBody>
      </p:sp>
      <p:sp>
        <p:nvSpPr>
          <p:cNvPr id="41" name="文字方塊 40"/>
          <p:cNvSpPr txBox="1"/>
          <p:nvPr/>
        </p:nvSpPr>
        <p:spPr>
          <a:xfrm>
            <a:off x="3809998" y="3360525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右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498786" y="608466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左</a:t>
            </a:r>
          </a:p>
        </p:txBody>
      </p:sp>
      <p:cxnSp>
        <p:nvCxnSpPr>
          <p:cNvPr id="44" name="直線單箭頭接點 43"/>
          <p:cNvCxnSpPr>
            <a:endCxn id="46" idx="2"/>
          </p:cNvCxnSpPr>
          <p:nvPr/>
        </p:nvCxnSpPr>
        <p:spPr>
          <a:xfrm flipV="1">
            <a:off x="1687652" y="903586"/>
            <a:ext cx="824317" cy="59884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字方塊 45"/>
          <p:cNvSpPr txBox="1"/>
          <p:nvPr/>
        </p:nvSpPr>
        <p:spPr>
          <a:xfrm>
            <a:off x="2072920" y="688142"/>
            <a:ext cx="878098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Robot-A(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市購</a:t>
            </a:r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  <p:cxnSp>
        <p:nvCxnSpPr>
          <p:cNvPr id="61" name="直線單箭頭接點 60"/>
          <p:cNvCxnSpPr>
            <a:endCxn id="63" idx="2"/>
          </p:cNvCxnSpPr>
          <p:nvPr/>
        </p:nvCxnSpPr>
        <p:spPr>
          <a:xfrm flipV="1">
            <a:off x="2363608" y="1480823"/>
            <a:ext cx="328653" cy="58628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字方塊 62"/>
          <p:cNvSpPr txBox="1"/>
          <p:nvPr/>
        </p:nvSpPr>
        <p:spPr>
          <a:xfrm>
            <a:off x="2190647" y="1265379"/>
            <a:ext cx="1003227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Robot-A 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控制器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64" name="直線單箭頭接點 63"/>
          <p:cNvCxnSpPr>
            <a:endCxn id="65" idx="0"/>
          </p:cNvCxnSpPr>
          <p:nvPr/>
        </p:nvCxnSpPr>
        <p:spPr>
          <a:xfrm flipH="1">
            <a:off x="2172619" y="2961177"/>
            <a:ext cx="141661" cy="43012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字方塊 64"/>
          <p:cNvSpPr txBox="1"/>
          <p:nvPr/>
        </p:nvSpPr>
        <p:spPr>
          <a:xfrm>
            <a:off x="1671005" y="3391302"/>
            <a:ext cx="1003227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Robot- 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控制器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66" name="直線單箭頭接點 65"/>
          <p:cNvCxnSpPr/>
          <p:nvPr/>
        </p:nvCxnSpPr>
        <p:spPr>
          <a:xfrm flipH="1">
            <a:off x="661006" y="1487637"/>
            <a:ext cx="245080" cy="32211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字方塊 67"/>
          <p:cNvSpPr txBox="1"/>
          <p:nvPr/>
        </p:nvSpPr>
        <p:spPr>
          <a:xfrm>
            <a:off x="133002" y="1809751"/>
            <a:ext cx="921494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WTR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配電盤</a:t>
            </a:r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-A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69" name="直線單箭頭接點 68"/>
          <p:cNvCxnSpPr/>
          <p:nvPr/>
        </p:nvCxnSpPr>
        <p:spPr>
          <a:xfrm>
            <a:off x="3557847" y="2567885"/>
            <a:ext cx="921470" cy="32433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字方塊 69"/>
          <p:cNvSpPr txBox="1"/>
          <p:nvPr/>
        </p:nvSpPr>
        <p:spPr>
          <a:xfrm>
            <a:off x="3951313" y="2892218"/>
            <a:ext cx="921494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WTR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配電盤</a:t>
            </a:r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-B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79" name="直線單箭頭接點 78"/>
          <p:cNvCxnSpPr>
            <a:endCxn id="80" idx="2"/>
          </p:cNvCxnSpPr>
          <p:nvPr/>
        </p:nvCxnSpPr>
        <p:spPr>
          <a:xfrm flipV="1">
            <a:off x="3377812" y="1483002"/>
            <a:ext cx="891630" cy="58410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文字方塊 79"/>
          <p:cNvSpPr txBox="1"/>
          <p:nvPr/>
        </p:nvSpPr>
        <p:spPr>
          <a:xfrm>
            <a:off x="3808755" y="1267558"/>
            <a:ext cx="921374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Robot-B(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市購</a:t>
            </a:r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85" name="表格 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398143"/>
              </p:ext>
            </p:extLst>
          </p:nvPr>
        </p:nvGraphicFramePr>
        <p:xfrm>
          <a:off x="5133171" y="598767"/>
          <a:ext cx="1891088" cy="1944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63718"/>
                <a:gridCol w="1427370"/>
              </a:tblGrid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IO</a:t>
                      </a:r>
                      <a:r>
                        <a:rPr lang="zh-TW" altLang="en-US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00" u="none" strike="noStrike" dirty="0" smtClea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中文名稱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effectLst/>
                          <a:latin typeface="標楷體"/>
                        </a:rPr>
                        <a:t>Y2700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Aligner-A</a:t>
                      </a:r>
                      <a:r>
                        <a:rPr lang="zh-TW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真空</a:t>
                      </a: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on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effectLst/>
                          <a:latin typeface="標楷體"/>
                        </a:rPr>
                        <a:t>Y2701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Aligner-A</a:t>
                      </a:r>
                      <a:r>
                        <a:rPr lang="zh-TW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真空</a:t>
                      </a: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off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effectLst/>
                          <a:latin typeface="標楷體"/>
                        </a:rPr>
                        <a:t>Y2702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Robot-A </a:t>
                      </a:r>
                      <a:r>
                        <a:rPr lang="en-US" altLang="zh-TW" sz="10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Arm(R)</a:t>
                      </a:r>
                      <a:r>
                        <a:rPr lang="zh-TW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真空</a:t>
                      </a: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on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effectLst/>
                          <a:latin typeface="標楷體"/>
                        </a:rPr>
                        <a:t>Y2703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Robot-A</a:t>
                      </a:r>
                      <a:r>
                        <a:rPr lang="en-US" altLang="zh-TW" sz="10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Arm(R)</a:t>
                      </a:r>
                      <a:r>
                        <a:rPr lang="zh-TW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真空</a:t>
                      </a: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off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effectLst/>
                          <a:latin typeface="標楷體"/>
                        </a:rPr>
                        <a:t>Y2704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Robot-A </a:t>
                      </a:r>
                      <a:r>
                        <a:rPr lang="en-US" altLang="zh-TW" sz="10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Arm(L)</a:t>
                      </a:r>
                      <a:r>
                        <a:rPr lang="zh-TW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真空</a:t>
                      </a: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on</a:t>
                      </a:r>
                      <a:endParaRPr lang="zh-TW" altLang="en-US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effectLst/>
                          <a:latin typeface="標楷體"/>
                        </a:rPr>
                        <a:t>Y2705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Robot-A </a:t>
                      </a:r>
                      <a:r>
                        <a:rPr lang="en-US" altLang="zh-TW" sz="10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Arm(L)</a:t>
                      </a:r>
                      <a:r>
                        <a:rPr lang="zh-TW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真空</a:t>
                      </a: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off</a:t>
                      </a:r>
                      <a:endParaRPr lang="zh-TW" altLang="en-US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effectLst/>
                          <a:latin typeface="標楷體"/>
                        </a:rPr>
                        <a:t>Y2706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Ionizer</a:t>
                      </a:r>
                      <a:r>
                        <a:rPr lang="zh-TW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吹氣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effectLst/>
                          <a:latin typeface="標楷體"/>
                        </a:rPr>
                        <a:t>Y2707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988" y="3745591"/>
            <a:ext cx="4405240" cy="2256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0129" y="4011605"/>
            <a:ext cx="4321863" cy="21980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7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15" y="2219835"/>
            <a:ext cx="1304439" cy="1390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0" name="文字方塊 99"/>
          <p:cNvSpPr txBox="1"/>
          <p:nvPr/>
        </p:nvSpPr>
        <p:spPr>
          <a:xfrm>
            <a:off x="371254" y="2928911"/>
            <a:ext cx="75807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Y2700</a:t>
            </a:r>
            <a:endParaRPr lang="en-US" altLang="zh-TW" sz="12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Y2704</a:t>
            </a:r>
          </a:p>
        </p:txBody>
      </p:sp>
      <p:pic>
        <p:nvPicPr>
          <p:cNvPr id="101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4183" y="2599519"/>
            <a:ext cx="1304439" cy="1390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2" name="文字方塊 101"/>
          <p:cNvSpPr txBox="1"/>
          <p:nvPr/>
        </p:nvSpPr>
        <p:spPr>
          <a:xfrm>
            <a:off x="5603522" y="3308595"/>
            <a:ext cx="75807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Y2300</a:t>
            </a:r>
            <a:endParaRPr lang="en-US" altLang="zh-TW" sz="12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Y2304</a:t>
            </a:r>
          </a:p>
        </p:txBody>
      </p:sp>
      <p:cxnSp>
        <p:nvCxnSpPr>
          <p:cNvPr id="103" name="直線單箭頭接點 102"/>
          <p:cNvCxnSpPr/>
          <p:nvPr/>
        </p:nvCxnSpPr>
        <p:spPr>
          <a:xfrm flipV="1">
            <a:off x="593749" y="3549630"/>
            <a:ext cx="108821" cy="87758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線單箭頭接點 105"/>
          <p:cNvCxnSpPr/>
          <p:nvPr/>
        </p:nvCxnSpPr>
        <p:spPr>
          <a:xfrm flipV="1">
            <a:off x="4968930" y="3592019"/>
            <a:ext cx="355253" cy="126261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8" name="表格 10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781580"/>
              </p:ext>
            </p:extLst>
          </p:nvPr>
        </p:nvGraphicFramePr>
        <p:xfrm>
          <a:off x="7164309" y="593220"/>
          <a:ext cx="1891088" cy="1944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63718"/>
                <a:gridCol w="1427370"/>
              </a:tblGrid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IO</a:t>
                      </a:r>
                      <a:r>
                        <a:rPr lang="zh-TW" altLang="en-US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00" u="none" strike="noStrike" dirty="0" smtClea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中文名稱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effectLst/>
                          <a:latin typeface="標楷體"/>
                        </a:rPr>
                        <a:t>Y2300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Aligner-B</a:t>
                      </a:r>
                      <a:r>
                        <a:rPr lang="zh-TW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真空</a:t>
                      </a: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on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effectLst/>
                          <a:latin typeface="標楷體"/>
                        </a:rPr>
                        <a:t>Y2301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Aligner-B</a:t>
                      </a:r>
                      <a:r>
                        <a:rPr lang="zh-TW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真空</a:t>
                      </a: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off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effectLst/>
                          <a:latin typeface="標楷體"/>
                        </a:rPr>
                        <a:t>Y2302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Robot-B </a:t>
                      </a:r>
                      <a:r>
                        <a:rPr lang="en-US" altLang="zh-TW" sz="10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Arm(R)</a:t>
                      </a:r>
                      <a:r>
                        <a:rPr lang="zh-TW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真空</a:t>
                      </a: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on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effectLst/>
                          <a:latin typeface="標楷體"/>
                        </a:rPr>
                        <a:t>Y2303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Robot-B</a:t>
                      </a:r>
                      <a:r>
                        <a:rPr lang="en-US" altLang="zh-TW" sz="10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Arm(R)</a:t>
                      </a:r>
                      <a:r>
                        <a:rPr lang="zh-TW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真空</a:t>
                      </a: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off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effectLst/>
                          <a:latin typeface="標楷體"/>
                        </a:rPr>
                        <a:t>Y2304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Robot-B </a:t>
                      </a:r>
                      <a:r>
                        <a:rPr lang="en-US" altLang="zh-TW" sz="10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Arm(L)</a:t>
                      </a:r>
                      <a:r>
                        <a:rPr lang="zh-TW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真空</a:t>
                      </a: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on</a:t>
                      </a:r>
                      <a:endParaRPr lang="zh-TW" altLang="en-US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effectLst/>
                          <a:latin typeface="標楷體"/>
                        </a:rPr>
                        <a:t>Y2305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Robot-B </a:t>
                      </a:r>
                      <a:r>
                        <a:rPr lang="en-US" altLang="zh-TW" sz="10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Arm(L)</a:t>
                      </a:r>
                      <a:r>
                        <a:rPr lang="zh-TW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真空</a:t>
                      </a:r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off</a:t>
                      </a:r>
                      <a:endParaRPr lang="zh-TW" altLang="en-US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effectLst/>
                          <a:latin typeface="標楷體"/>
                        </a:rPr>
                        <a:t>Y2306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effectLst/>
                          <a:latin typeface="標楷體"/>
                        </a:rPr>
                        <a:t>Y2307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112" name="文字方塊 111"/>
          <p:cNvSpPr txBox="1"/>
          <p:nvPr/>
        </p:nvSpPr>
        <p:spPr>
          <a:xfrm>
            <a:off x="5727673" y="5120666"/>
            <a:ext cx="1462838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Robot-B Arm(R)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真空</a:t>
            </a:r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常關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4" name="文字方塊 113"/>
          <p:cNvSpPr txBox="1"/>
          <p:nvPr/>
        </p:nvSpPr>
        <p:spPr>
          <a:xfrm>
            <a:off x="5747065" y="5830037"/>
            <a:ext cx="1462838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Robot-B Arm(L)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真空</a:t>
            </a:r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常關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5" name="文字方塊 114"/>
          <p:cNvSpPr txBox="1"/>
          <p:nvPr/>
        </p:nvSpPr>
        <p:spPr>
          <a:xfrm>
            <a:off x="5730439" y="4408514"/>
            <a:ext cx="1462838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Aligner-B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真空</a:t>
            </a:r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常關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8" name="文字方塊 117"/>
          <p:cNvSpPr txBox="1"/>
          <p:nvPr/>
        </p:nvSpPr>
        <p:spPr>
          <a:xfrm>
            <a:off x="7190511" y="4084827"/>
            <a:ext cx="910815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Y2300-</a:t>
            </a:r>
            <a:r>
              <a:rPr lang="zh-TW" altLang="en-US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</a:t>
            </a:r>
            <a:endParaRPr lang="zh-TW" altLang="en-US" sz="12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9" name="文字方塊 118"/>
          <p:cNvSpPr txBox="1"/>
          <p:nvPr/>
        </p:nvSpPr>
        <p:spPr>
          <a:xfrm>
            <a:off x="4957080" y="4079280"/>
            <a:ext cx="910815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Y2301-</a:t>
            </a:r>
            <a:r>
              <a:rPr lang="zh-TW" altLang="en-US" sz="12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關</a:t>
            </a:r>
          </a:p>
        </p:txBody>
      </p:sp>
      <p:sp>
        <p:nvSpPr>
          <p:cNvPr id="120" name="文字方塊 119"/>
          <p:cNvSpPr txBox="1"/>
          <p:nvPr/>
        </p:nvSpPr>
        <p:spPr>
          <a:xfrm>
            <a:off x="4959846" y="4821903"/>
            <a:ext cx="910815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Y2303-</a:t>
            </a:r>
            <a:r>
              <a:rPr lang="zh-TW" altLang="en-US" sz="12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關</a:t>
            </a:r>
          </a:p>
        </p:txBody>
      </p:sp>
      <p:sp>
        <p:nvSpPr>
          <p:cNvPr id="121" name="文字方塊 120"/>
          <p:cNvSpPr txBox="1"/>
          <p:nvPr/>
        </p:nvSpPr>
        <p:spPr>
          <a:xfrm>
            <a:off x="4970925" y="5514648"/>
            <a:ext cx="910815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Y2305-</a:t>
            </a:r>
            <a:r>
              <a:rPr lang="zh-TW" altLang="en-US" sz="12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關</a:t>
            </a:r>
          </a:p>
        </p:txBody>
      </p:sp>
      <p:sp>
        <p:nvSpPr>
          <p:cNvPr id="122" name="文字方塊 121"/>
          <p:cNvSpPr txBox="1"/>
          <p:nvPr/>
        </p:nvSpPr>
        <p:spPr>
          <a:xfrm>
            <a:off x="7201590" y="4827450"/>
            <a:ext cx="910815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Y2302-</a:t>
            </a:r>
            <a:r>
              <a:rPr lang="zh-TW" altLang="en-US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</a:t>
            </a:r>
            <a:endParaRPr lang="zh-TW" altLang="en-US" sz="12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3" name="文字方塊 122"/>
          <p:cNvSpPr txBox="1"/>
          <p:nvPr/>
        </p:nvSpPr>
        <p:spPr>
          <a:xfrm>
            <a:off x="7204356" y="5536821"/>
            <a:ext cx="910815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Y2304-</a:t>
            </a:r>
            <a:r>
              <a:rPr lang="zh-TW" altLang="en-US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</a:t>
            </a:r>
            <a:endParaRPr lang="zh-TW" altLang="en-US" sz="12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4" name="文字方塊 123"/>
          <p:cNvSpPr txBox="1"/>
          <p:nvPr/>
        </p:nvSpPr>
        <p:spPr>
          <a:xfrm>
            <a:off x="1249732" y="4923920"/>
            <a:ext cx="1462838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Robot-A Arm(R)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真空</a:t>
            </a:r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常關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5" name="文字方塊 124"/>
          <p:cNvSpPr txBox="1"/>
          <p:nvPr/>
        </p:nvSpPr>
        <p:spPr>
          <a:xfrm>
            <a:off x="1269124" y="5633291"/>
            <a:ext cx="1462838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Robot-A Arm(L)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真空</a:t>
            </a:r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常關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6" name="文字方塊 125"/>
          <p:cNvSpPr txBox="1"/>
          <p:nvPr/>
        </p:nvSpPr>
        <p:spPr>
          <a:xfrm>
            <a:off x="1252498" y="4211768"/>
            <a:ext cx="1462838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Aligner-A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真空</a:t>
            </a:r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常關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7" name="文字方塊 126"/>
          <p:cNvSpPr txBox="1"/>
          <p:nvPr/>
        </p:nvSpPr>
        <p:spPr>
          <a:xfrm>
            <a:off x="2712570" y="3888081"/>
            <a:ext cx="910815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Y2700-</a:t>
            </a:r>
            <a:r>
              <a:rPr lang="zh-TW" altLang="en-US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</a:t>
            </a:r>
            <a:endParaRPr lang="zh-TW" altLang="en-US" sz="12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8" name="文字方塊 127"/>
          <p:cNvSpPr txBox="1"/>
          <p:nvPr/>
        </p:nvSpPr>
        <p:spPr>
          <a:xfrm>
            <a:off x="479139" y="3882534"/>
            <a:ext cx="910815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Y2701-</a:t>
            </a:r>
            <a:r>
              <a:rPr lang="zh-TW" altLang="en-US" sz="12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關</a:t>
            </a:r>
          </a:p>
        </p:txBody>
      </p:sp>
      <p:sp>
        <p:nvSpPr>
          <p:cNvPr id="129" name="文字方塊 128"/>
          <p:cNvSpPr txBox="1"/>
          <p:nvPr/>
        </p:nvSpPr>
        <p:spPr>
          <a:xfrm>
            <a:off x="481905" y="4625157"/>
            <a:ext cx="910815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Y2703-</a:t>
            </a:r>
            <a:r>
              <a:rPr lang="zh-TW" altLang="en-US" sz="12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關</a:t>
            </a:r>
          </a:p>
        </p:txBody>
      </p:sp>
      <p:sp>
        <p:nvSpPr>
          <p:cNvPr id="130" name="文字方塊 129"/>
          <p:cNvSpPr txBox="1"/>
          <p:nvPr/>
        </p:nvSpPr>
        <p:spPr>
          <a:xfrm>
            <a:off x="492984" y="5317902"/>
            <a:ext cx="910815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Y2705-</a:t>
            </a:r>
            <a:r>
              <a:rPr lang="zh-TW" altLang="en-US" sz="12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關</a:t>
            </a:r>
          </a:p>
        </p:txBody>
      </p:sp>
      <p:sp>
        <p:nvSpPr>
          <p:cNvPr id="131" name="文字方塊 130"/>
          <p:cNvSpPr txBox="1"/>
          <p:nvPr/>
        </p:nvSpPr>
        <p:spPr>
          <a:xfrm>
            <a:off x="2723649" y="4630704"/>
            <a:ext cx="910815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Y2702-</a:t>
            </a:r>
            <a:r>
              <a:rPr lang="zh-TW" altLang="en-US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</a:t>
            </a:r>
            <a:endParaRPr lang="zh-TW" altLang="en-US" sz="12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2" name="文字方塊 131"/>
          <p:cNvSpPr txBox="1"/>
          <p:nvPr/>
        </p:nvSpPr>
        <p:spPr>
          <a:xfrm>
            <a:off x="2726415" y="5340075"/>
            <a:ext cx="910815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Y2706-</a:t>
            </a:r>
            <a:r>
              <a:rPr lang="zh-TW" altLang="en-US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</a:t>
            </a:r>
            <a:endParaRPr lang="zh-TW" altLang="en-US" sz="12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8" name="文字方塊 137"/>
          <p:cNvSpPr txBox="1"/>
          <p:nvPr/>
        </p:nvSpPr>
        <p:spPr>
          <a:xfrm>
            <a:off x="250407" y="6001782"/>
            <a:ext cx="1002091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Ionizer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真空</a:t>
            </a:r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常關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9" name="文字方塊 138"/>
          <p:cNvSpPr txBox="1"/>
          <p:nvPr/>
        </p:nvSpPr>
        <p:spPr>
          <a:xfrm>
            <a:off x="296044" y="6248869"/>
            <a:ext cx="910815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Y0000-</a:t>
            </a:r>
            <a:r>
              <a:rPr lang="zh-TW" altLang="en-US" sz="12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關</a:t>
            </a:r>
          </a:p>
        </p:txBody>
      </p:sp>
    </p:spTree>
    <p:extLst>
      <p:ext uri="{BB962C8B-B14F-4D97-AF65-F5344CB8AC3E}">
        <p14:creationId xmlns:p14="http://schemas.microsoft.com/office/powerpoint/2010/main" val="1432334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4379" y="845054"/>
            <a:ext cx="4077075" cy="3183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標題 1"/>
          <p:cNvSpPr txBox="1">
            <a:spLocks/>
          </p:cNvSpPr>
          <p:nvPr/>
        </p:nvSpPr>
        <p:spPr>
          <a:xfrm>
            <a:off x="1805107" y="0"/>
            <a:ext cx="7070342" cy="55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zh-TW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WAS+WOI</a:t>
            </a:r>
            <a:endParaRPr lang="zh-TW" alt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7" name="文字方塊 66"/>
          <p:cNvSpPr txBox="1"/>
          <p:nvPr/>
        </p:nvSpPr>
        <p:spPr>
          <a:xfrm>
            <a:off x="3207236" y="6532199"/>
            <a:ext cx="2794429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順序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面對操作面，順時鐘方向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1181805" y="3694765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前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4" name="文字方塊 53"/>
          <p:cNvSpPr txBox="1"/>
          <p:nvPr/>
        </p:nvSpPr>
        <p:spPr>
          <a:xfrm>
            <a:off x="3944229" y="3751562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右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1705359" y="1946375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左</a:t>
            </a:r>
          </a:p>
        </p:txBody>
      </p:sp>
      <p:cxnSp>
        <p:nvCxnSpPr>
          <p:cNvPr id="56" name="直線單箭頭接點 55"/>
          <p:cNvCxnSpPr>
            <a:endCxn id="57" idx="2"/>
          </p:cNvCxnSpPr>
          <p:nvPr/>
        </p:nvCxnSpPr>
        <p:spPr>
          <a:xfrm flipH="1" flipV="1">
            <a:off x="773591" y="2174128"/>
            <a:ext cx="1139585" cy="81326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/>
          <p:cNvSpPr txBox="1"/>
          <p:nvPr/>
        </p:nvSpPr>
        <p:spPr>
          <a:xfrm>
            <a:off x="283643" y="1958684"/>
            <a:ext cx="979896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Aligner-A(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市購</a:t>
            </a:r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  <p:cxnSp>
        <p:nvCxnSpPr>
          <p:cNvPr id="60" name="直線單箭頭接點 59"/>
          <p:cNvCxnSpPr/>
          <p:nvPr/>
        </p:nvCxnSpPr>
        <p:spPr>
          <a:xfrm>
            <a:off x="4414062" y="2580761"/>
            <a:ext cx="614619" cy="81659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字方塊 61"/>
          <p:cNvSpPr txBox="1"/>
          <p:nvPr/>
        </p:nvSpPr>
        <p:spPr>
          <a:xfrm>
            <a:off x="4589632" y="3397691"/>
            <a:ext cx="979896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Aligner-B(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市購</a:t>
            </a:r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  <p:cxnSp>
        <p:nvCxnSpPr>
          <p:cNvPr id="71" name="直線單箭頭接點 70"/>
          <p:cNvCxnSpPr>
            <a:endCxn id="72" idx="2"/>
          </p:cNvCxnSpPr>
          <p:nvPr/>
        </p:nvCxnSpPr>
        <p:spPr>
          <a:xfrm flipH="1" flipV="1">
            <a:off x="1613163" y="1539742"/>
            <a:ext cx="1362798" cy="68363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字方塊 71"/>
          <p:cNvSpPr txBox="1"/>
          <p:nvPr/>
        </p:nvSpPr>
        <p:spPr>
          <a:xfrm>
            <a:off x="1080658" y="1324298"/>
            <a:ext cx="1065010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ID Reader-AT(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市購</a:t>
            </a:r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  <p:cxnSp>
        <p:nvCxnSpPr>
          <p:cNvPr id="73" name="直線單箭頭接點 72"/>
          <p:cNvCxnSpPr>
            <a:endCxn id="74" idx="2"/>
          </p:cNvCxnSpPr>
          <p:nvPr/>
        </p:nvCxnSpPr>
        <p:spPr>
          <a:xfrm flipH="1" flipV="1">
            <a:off x="2443456" y="1090090"/>
            <a:ext cx="1006329" cy="108403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1910951" y="874646"/>
            <a:ext cx="1065010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ID Reader-BB(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市購</a:t>
            </a:r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  <p:cxnSp>
        <p:nvCxnSpPr>
          <p:cNvPr id="75" name="直線單箭頭接點 74"/>
          <p:cNvCxnSpPr/>
          <p:nvPr/>
        </p:nvCxnSpPr>
        <p:spPr>
          <a:xfrm flipV="1">
            <a:off x="3391596" y="1134768"/>
            <a:ext cx="1198037" cy="10772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方塊 75"/>
          <p:cNvSpPr txBox="1"/>
          <p:nvPr/>
        </p:nvSpPr>
        <p:spPr>
          <a:xfrm>
            <a:off x="4589632" y="1027046"/>
            <a:ext cx="1065010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ID Reader-BT(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市購</a:t>
            </a:r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  <p:cxnSp>
        <p:nvCxnSpPr>
          <p:cNvPr id="78" name="直線單箭頭接點 77"/>
          <p:cNvCxnSpPr>
            <a:endCxn id="81" idx="0"/>
          </p:cNvCxnSpPr>
          <p:nvPr/>
        </p:nvCxnSpPr>
        <p:spPr>
          <a:xfrm flipH="1">
            <a:off x="2975961" y="3266906"/>
            <a:ext cx="66501" cy="78293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字方塊 80"/>
          <p:cNvSpPr txBox="1"/>
          <p:nvPr/>
        </p:nvSpPr>
        <p:spPr>
          <a:xfrm>
            <a:off x="2443456" y="4049840"/>
            <a:ext cx="1065010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ID Reader-AB(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市購</a:t>
            </a:r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  <p:sp>
        <p:nvSpPr>
          <p:cNvPr id="82" name="文字方塊 81"/>
          <p:cNvSpPr txBox="1"/>
          <p:nvPr/>
        </p:nvSpPr>
        <p:spPr>
          <a:xfrm>
            <a:off x="652584" y="2996381"/>
            <a:ext cx="856148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真空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參考</a:t>
            </a:r>
            <a:endParaRPr lang="en-US" altLang="zh-TW" sz="8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WTR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配電盤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3" name="文字方塊 82"/>
          <p:cNvSpPr txBox="1"/>
          <p:nvPr/>
        </p:nvSpPr>
        <p:spPr>
          <a:xfrm>
            <a:off x="4713380" y="1462832"/>
            <a:ext cx="856148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真空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參考</a:t>
            </a:r>
            <a:endParaRPr lang="en-US" altLang="zh-TW" sz="8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WTR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配電盤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4" name="文字方塊 83"/>
          <p:cNvSpPr txBox="1"/>
          <p:nvPr/>
        </p:nvSpPr>
        <p:spPr>
          <a:xfrm>
            <a:off x="4980821" y="2298307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</a:t>
            </a:r>
          </a:p>
        </p:txBody>
      </p:sp>
    </p:spTree>
    <p:extLst>
      <p:ext uri="{BB962C8B-B14F-4D97-AF65-F5344CB8AC3E}">
        <p14:creationId xmlns:p14="http://schemas.microsoft.com/office/powerpoint/2010/main" val="1951260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815" y="1319418"/>
            <a:ext cx="2096133" cy="3740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標題 1"/>
          <p:cNvSpPr txBox="1">
            <a:spLocks/>
          </p:cNvSpPr>
          <p:nvPr/>
        </p:nvSpPr>
        <p:spPr>
          <a:xfrm>
            <a:off x="1805107" y="0"/>
            <a:ext cx="7070342" cy="55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zh-TW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FLP-A~D</a:t>
            </a:r>
            <a:endParaRPr lang="zh-TW" alt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57" name="表格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2492970"/>
              </p:ext>
            </p:extLst>
          </p:nvPr>
        </p:nvGraphicFramePr>
        <p:xfrm>
          <a:off x="6379644" y="2072344"/>
          <a:ext cx="2583682" cy="1944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37825"/>
                <a:gridCol w="1945857"/>
              </a:tblGrid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IO</a:t>
                      </a:r>
                      <a:r>
                        <a:rPr lang="zh-TW" altLang="en-US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00" u="none" strike="noStrike" dirty="0" smtClea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中文名稱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effectLst/>
                          <a:latin typeface="標楷體"/>
                        </a:rPr>
                        <a:t>Y2118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TW" sz="10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PRESENCE</a:t>
                      </a:r>
                      <a:r>
                        <a:rPr lang="zh-TW" altLang="en-US" sz="10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指示燈</a:t>
                      </a:r>
                      <a:r>
                        <a:rPr lang="en-US" altLang="zh-TW" sz="10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-Bile</a:t>
                      </a:r>
                      <a:endParaRPr lang="en-US" sz="1000" b="0" i="0" u="none" strike="noStrike" cap="non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  <a:sym typeface="Arial"/>
                      </a:endParaRPr>
                    </a:p>
                  </a:txBody>
                  <a:tcPr marL="9525" marR="9525" marT="9525" marB="0" anchor="b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effectLst/>
                          <a:latin typeface="標楷體"/>
                        </a:rPr>
                        <a:t>Y2119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TW" sz="10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PLACE</a:t>
                      </a:r>
                      <a:r>
                        <a:rPr lang="zh-TW" altLang="en-US" sz="10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指示燈</a:t>
                      </a:r>
                      <a:r>
                        <a:rPr lang="en-US" altLang="zh-TW" sz="10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-Green</a:t>
                      </a:r>
                      <a:endParaRPr lang="en-US" sz="1000" b="0" i="0" u="none" strike="noStrike" cap="non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  <a:sym typeface="Arial"/>
                      </a:endParaRPr>
                    </a:p>
                  </a:txBody>
                  <a:tcPr marL="9525" marR="9525" marT="9525" marB="0" anchor="b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effectLst/>
                          <a:latin typeface="標楷體"/>
                        </a:rPr>
                        <a:t>Y211A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TW" sz="10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MAMUAL</a:t>
                      </a:r>
                      <a:r>
                        <a:rPr lang="zh-TW" altLang="en-US" sz="10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指示燈</a:t>
                      </a:r>
                      <a:r>
                        <a:rPr lang="en-US" altLang="zh-TW" sz="10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-Blue</a:t>
                      </a:r>
                      <a:endParaRPr lang="en-US" sz="1000" b="0" i="0" u="none" strike="noStrike" cap="non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  <a:sym typeface="Arial"/>
                      </a:endParaRPr>
                    </a:p>
                  </a:txBody>
                  <a:tcPr marL="9525" marR="9525" marT="9525" marB="0" anchor="b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effectLst/>
                          <a:latin typeface="標楷體"/>
                        </a:rPr>
                        <a:t>Y211B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TW" sz="10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ACCESS</a:t>
                      </a:r>
                      <a:r>
                        <a:rPr lang="zh-TW" altLang="en-US" sz="10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指示燈</a:t>
                      </a:r>
                      <a:r>
                        <a:rPr lang="en-US" altLang="zh-TW" sz="10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-Yellow</a:t>
                      </a:r>
                      <a:endParaRPr lang="en-US" sz="1000" b="0" i="0" u="none" strike="noStrike" cap="non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  <a:sym typeface="Arial"/>
                      </a:endParaRPr>
                    </a:p>
                  </a:txBody>
                  <a:tcPr marL="9525" marR="9525" marT="9525" marB="0" anchor="b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effectLst/>
                          <a:latin typeface="標楷體"/>
                        </a:rPr>
                        <a:t>Y211C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TW" sz="10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LOAD</a:t>
                      </a:r>
                      <a:r>
                        <a:rPr lang="zh-TW" altLang="en-US" sz="10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指示燈</a:t>
                      </a:r>
                      <a:r>
                        <a:rPr lang="en-US" altLang="zh-TW" sz="10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-Blue</a:t>
                      </a:r>
                      <a:endParaRPr lang="en-US" sz="1000" b="0" i="0" u="none" strike="noStrike" cap="non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  <a:sym typeface="Arial"/>
                      </a:endParaRPr>
                    </a:p>
                  </a:txBody>
                  <a:tcPr marL="9525" marR="9525" marT="9525" marB="0" anchor="b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effectLst/>
                          <a:latin typeface="標楷體"/>
                        </a:rPr>
                        <a:t>Y211D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TW" sz="10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UNLOAD</a:t>
                      </a:r>
                      <a:r>
                        <a:rPr lang="zh-TW" altLang="en-US" sz="10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指示燈</a:t>
                      </a:r>
                      <a:r>
                        <a:rPr lang="en-US" altLang="zh-TW" sz="10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-White</a:t>
                      </a:r>
                      <a:endParaRPr lang="en-US" sz="1000" b="0" i="0" u="none" strike="noStrike" cap="non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  <a:sym typeface="Arial"/>
                      </a:endParaRPr>
                    </a:p>
                  </a:txBody>
                  <a:tcPr marL="9525" marR="9525" marT="9525" marB="0" anchor="b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effectLst/>
                          <a:latin typeface="標楷體"/>
                        </a:rPr>
                        <a:t>Y211E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TW" sz="10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ERROE</a:t>
                      </a:r>
                      <a:r>
                        <a:rPr lang="zh-TW" altLang="en-US" sz="10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指示燈</a:t>
                      </a:r>
                      <a:r>
                        <a:rPr lang="en-US" altLang="zh-TW" sz="10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-Red</a:t>
                      </a:r>
                      <a:endParaRPr lang="en-US" sz="1000" b="0" i="0" u="none" strike="noStrike" cap="non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  <a:sym typeface="Arial"/>
                      </a:endParaRPr>
                    </a:p>
                  </a:txBody>
                  <a:tcPr marL="9525" marR="9525" marT="9525" marB="0" anchor="b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effectLst/>
                          <a:latin typeface="標楷體"/>
                        </a:rPr>
                        <a:t>Y211F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TW" sz="10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SPARE</a:t>
                      </a:r>
                      <a:r>
                        <a:rPr lang="zh-TW" altLang="en-US" sz="10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指示燈</a:t>
                      </a:r>
                      <a:r>
                        <a:rPr lang="en-US" altLang="zh-TW" sz="10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-Yellow</a:t>
                      </a:r>
                      <a:endParaRPr lang="en-US" sz="1000" b="0" i="0" u="none" strike="noStrike" cap="non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  <a:sym typeface="Arial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35" name="文字方塊 34"/>
          <p:cNvSpPr txBox="1"/>
          <p:nvPr/>
        </p:nvSpPr>
        <p:spPr>
          <a:xfrm rot="16200000">
            <a:off x="7149975" y="3877227"/>
            <a:ext cx="789947" cy="15696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 fontAlgn="ctr"/>
            <a:r>
              <a:rPr lang="en-US" altLang="zh-TW" sz="12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Y2118</a:t>
            </a:r>
            <a:endParaRPr lang="zh-TW" altLang="zh-TW" sz="12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fontAlgn="ctr"/>
            <a:r>
              <a:rPr lang="en-US" altLang="zh-TW" sz="12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Y2119</a:t>
            </a:r>
            <a:endParaRPr lang="zh-TW" altLang="zh-TW" sz="12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fontAlgn="ctr"/>
            <a:r>
              <a:rPr lang="en-US" altLang="zh-TW" sz="12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Y211A</a:t>
            </a:r>
            <a:endParaRPr lang="zh-TW" altLang="zh-TW" sz="12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fontAlgn="ctr"/>
            <a:r>
              <a:rPr lang="en-US" altLang="zh-TW" sz="12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Y211B</a:t>
            </a:r>
            <a:endParaRPr lang="zh-TW" altLang="zh-TW" sz="12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fontAlgn="ctr"/>
            <a:r>
              <a:rPr lang="en-US" altLang="zh-TW" sz="12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Y211C</a:t>
            </a:r>
            <a:endParaRPr lang="zh-TW" altLang="zh-TW" sz="12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fontAlgn="ctr"/>
            <a:r>
              <a:rPr lang="en-US" altLang="zh-TW" sz="12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Y211D</a:t>
            </a:r>
            <a:endParaRPr lang="zh-TW" altLang="zh-TW" sz="12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fontAlgn="ctr"/>
            <a:r>
              <a:rPr lang="en-US" altLang="zh-TW" sz="12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Y211E</a:t>
            </a:r>
            <a:endParaRPr lang="zh-TW" altLang="zh-TW" sz="12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font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Y211F</a:t>
            </a:r>
            <a:endParaRPr lang="zh-TW" altLang="zh-TW" sz="12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519643" y="4758991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前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2429595" y="4481992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右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601368" y="2493393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左</a:t>
            </a:r>
          </a:p>
        </p:txBody>
      </p:sp>
      <p:sp>
        <p:nvSpPr>
          <p:cNvPr id="32" name="文字方塊 31"/>
          <p:cNvSpPr txBox="1"/>
          <p:nvPr/>
        </p:nvSpPr>
        <p:spPr>
          <a:xfrm>
            <a:off x="2570911" y="2493393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</a:t>
            </a:r>
          </a:p>
        </p:txBody>
      </p:sp>
      <p:sp>
        <p:nvSpPr>
          <p:cNvPr id="41" name="文字方塊 40"/>
          <p:cNvSpPr txBox="1"/>
          <p:nvPr/>
        </p:nvSpPr>
        <p:spPr>
          <a:xfrm>
            <a:off x="3207236" y="6532199"/>
            <a:ext cx="2794429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順序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面對操作面，順時鐘方向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226061" y="530040"/>
            <a:ext cx="399680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出機會拆</a:t>
            </a:r>
            <a:r>
              <a:rPr lang="en-US" altLang="zh-TW" dirty="0" smtClean="0"/>
              <a:t>(</a:t>
            </a:r>
            <a:r>
              <a:rPr lang="zh-TW" altLang="en-US" dirty="0" smtClean="0"/>
              <a:t>模組化</a:t>
            </a:r>
            <a:r>
              <a:rPr lang="en-US" altLang="zh-TW" dirty="0" smtClean="0"/>
              <a:t>)</a:t>
            </a:r>
            <a:r>
              <a:rPr lang="zh-TW" altLang="en-US" dirty="0" smtClean="0"/>
              <a:t>，</a:t>
            </a:r>
            <a:r>
              <a:rPr lang="en-US" altLang="zh-TW" dirty="0" smtClean="0"/>
              <a:t>FLP</a:t>
            </a:r>
            <a:r>
              <a:rPr lang="zh-TW" altLang="en-US" dirty="0" smtClean="0"/>
              <a:t>獨立</a:t>
            </a:r>
            <a:r>
              <a:rPr lang="en-US" altLang="zh-TW" dirty="0" smtClean="0"/>
              <a:t>I/O </a:t>
            </a:r>
            <a:r>
              <a:rPr lang="zh-TW" altLang="en-US" dirty="0" smtClean="0"/>
              <a:t>，電源供</a:t>
            </a:r>
            <a:r>
              <a:rPr lang="en-US" altLang="zh-TW" dirty="0" smtClean="0"/>
              <a:t>DC24V</a:t>
            </a:r>
          </a:p>
          <a:p>
            <a:r>
              <a:rPr lang="zh-TW" altLang="en-US" dirty="0" smtClean="0"/>
              <a:t>網路線串接</a:t>
            </a:r>
            <a:endParaRPr lang="en-US" altLang="zh-TW" dirty="0" smtClean="0"/>
          </a:p>
          <a:p>
            <a:r>
              <a:rPr lang="zh-TW" altLang="en-US" dirty="0" smtClean="0"/>
              <a:t>每組</a:t>
            </a:r>
            <a:r>
              <a:rPr lang="en-US" altLang="zh-TW" dirty="0" smtClean="0"/>
              <a:t>FLP </a:t>
            </a:r>
            <a:r>
              <a:rPr lang="zh-TW" altLang="en-US" dirty="0" smtClean="0"/>
              <a:t>上安裝</a:t>
            </a:r>
            <a:r>
              <a:rPr lang="en-US" altLang="zh-TW" dirty="0" smtClean="0"/>
              <a:t>32IN/32OUT</a:t>
            </a:r>
            <a:r>
              <a:rPr lang="zh-TW" altLang="en-US" dirty="0" smtClean="0"/>
              <a:t>各</a:t>
            </a:r>
            <a:r>
              <a:rPr lang="en-US" altLang="zh-TW" dirty="0" smtClean="0"/>
              <a:t>1</a:t>
            </a:r>
            <a:r>
              <a:rPr lang="zh-TW" altLang="en-US" dirty="0" smtClean="0"/>
              <a:t>張</a:t>
            </a:r>
            <a:endParaRPr lang="zh-TW" altLang="en-US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0956" y="1402547"/>
            <a:ext cx="2095564" cy="36486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3" name="文字方塊 42"/>
          <p:cNvSpPr txBox="1"/>
          <p:nvPr/>
        </p:nvSpPr>
        <p:spPr>
          <a:xfrm>
            <a:off x="5074267" y="2299524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前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3199640" y="3559206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</a:t>
            </a:r>
          </a:p>
        </p:txBody>
      </p:sp>
      <p:sp>
        <p:nvSpPr>
          <p:cNvPr id="46" name="文字方塊 45"/>
          <p:cNvSpPr txBox="1"/>
          <p:nvPr/>
        </p:nvSpPr>
        <p:spPr>
          <a:xfrm>
            <a:off x="5074267" y="4357599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左</a:t>
            </a:r>
          </a:p>
        </p:txBody>
      </p:sp>
      <p:sp>
        <p:nvSpPr>
          <p:cNvPr id="47" name="文字方塊 46"/>
          <p:cNvSpPr txBox="1"/>
          <p:nvPr/>
        </p:nvSpPr>
        <p:spPr>
          <a:xfrm>
            <a:off x="3199639" y="1632051"/>
            <a:ext cx="28263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右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5034" y="5097963"/>
            <a:ext cx="5329221" cy="134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8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705" y="707384"/>
            <a:ext cx="1304439" cy="1390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0" name="文字方塊 49"/>
          <p:cNvSpPr txBox="1"/>
          <p:nvPr/>
        </p:nvSpPr>
        <p:spPr>
          <a:xfrm>
            <a:off x="5048044" y="1416460"/>
            <a:ext cx="75807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Y2118</a:t>
            </a:r>
            <a:endParaRPr lang="en-US" altLang="zh-TW" sz="12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Y211F</a:t>
            </a:r>
          </a:p>
        </p:txBody>
      </p:sp>
      <p:cxnSp>
        <p:nvCxnSpPr>
          <p:cNvPr id="51" name="直線單箭頭接點 50"/>
          <p:cNvCxnSpPr>
            <a:endCxn id="48" idx="1"/>
          </p:cNvCxnSpPr>
          <p:nvPr/>
        </p:nvCxnSpPr>
        <p:spPr>
          <a:xfrm flipV="1">
            <a:off x="4388738" y="1402548"/>
            <a:ext cx="379967" cy="63424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字方塊 51"/>
          <p:cNvSpPr txBox="1"/>
          <p:nvPr/>
        </p:nvSpPr>
        <p:spPr>
          <a:xfrm>
            <a:off x="72373" y="1878125"/>
            <a:ext cx="979896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 fontAlgn="ctr"/>
            <a:r>
              <a:rPr lang="en-US" altLang="zh-TW" sz="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Load Port</a:t>
            </a:r>
            <a:r>
              <a:rPr lang="zh-TW" altLang="en-US" sz="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指示燈</a:t>
            </a:r>
          </a:p>
        </p:txBody>
      </p:sp>
      <p:cxnSp>
        <p:nvCxnSpPr>
          <p:cNvPr id="53" name="直線單箭頭接點 52"/>
          <p:cNvCxnSpPr/>
          <p:nvPr/>
        </p:nvCxnSpPr>
        <p:spPr>
          <a:xfrm flipV="1">
            <a:off x="1052269" y="1719670"/>
            <a:ext cx="628143" cy="26617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0055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標題 1"/>
          <p:cNvSpPr txBox="1">
            <a:spLocks/>
          </p:cNvSpPr>
          <p:nvPr/>
        </p:nvSpPr>
        <p:spPr>
          <a:xfrm>
            <a:off x="1805107" y="0"/>
            <a:ext cx="7070342" cy="55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zh-TW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FLP-A~D</a:t>
            </a:r>
            <a:endParaRPr lang="zh-TW" alt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3207236" y="6532199"/>
            <a:ext cx="2794429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順序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面對操作面，順時鐘方向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2016" y="1833185"/>
            <a:ext cx="3047137" cy="4004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68" name="表格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2337748"/>
              </p:ext>
            </p:extLst>
          </p:nvPr>
        </p:nvGraphicFramePr>
        <p:xfrm>
          <a:off x="5436524" y="4028116"/>
          <a:ext cx="3353185" cy="1080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27789"/>
                <a:gridCol w="2525396"/>
              </a:tblGrid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IO</a:t>
                      </a:r>
                      <a:r>
                        <a:rPr lang="zh-TW" altLang="en-US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00" u="none" strike="noStrike" dirty="0" smtClea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中文名稱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effectLst/>
                          <a:latin typeface="標楷體"/>
                        </a:rPr>
                        <a:t>X0114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Mapping Sensor</a:t>
                      </a:r>
                    </a:p>
                  </a:txBody>
                  <a:tcPr marL="9525" marR="9525" marT="9525" marB="0" anchor="b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effectLst/>
                          <a:latin typeface="標楷體"/>
                        </a:rPr>
                        <a:t>X0115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TW" sz="10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Wafer</a:t>
                      </a:r>
                      <a:r>
                        <a:rPr lang="zh-TW" altLang="en-US" sz="10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凸出檢知</a:t>
                      </a:r>
                      <a:r>
                        <a:rPr lang="en-US" altLang="zh-TW" sz="10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Sensor</a:t>
                      </a:r>
                      <a:endParaRPr lang="en-US" altLang="zh-TW" sz="1000" b="0" i="0" u="none" strike="noStrike" cap="non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  <a:sym typeface="Arial"/>
                      </a:endParaRPr>
                    </a:p>
                  </a:txBody>
                  <a:tcPr marL="9525" marR="9525" marT="9525" marB="0" anchor="b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effectLst/>
                          <a:latin typeface="標楷體"/>
                        </a:rPr>
                        <a:t>X0116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FOUP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開門機構</a:t>
                      </a: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Latch Key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旋轉</a:t>
                      </a: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推出</a:t>
                      </a:r>
                      <a:endParaRPr lang="en-US" altLang="zh-TW" sz="10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b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effectLst/>
                          <a:latin typeface="標楷體"/>
                        </a:rPr>
                        <a:t>X0117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FOUP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開門機構</a:t>
                      </a: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Latch Key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旋轉</a:t>
                      </a: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收回</a:t>
                      </a:r>
                      <a:endParaRPr lang="en-US" altLang="zh-TW" sz="10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pic>
        <p:nvPicPr>
          <p:cNvPr id="69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7226" y="1422248"/>
            <a:ext cx="1304439" cy="1390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0" name="文字方塊 69"/>
          <p:cNvSpPr txBox="1"/>
          <p:nvPr/>
        </p:nvSpPr>
        <p:spPr>
          <a:xfrm>
            <a:off x="4976565" y="2131324"/>
            <a:ext cx="75807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X0114</a:t>
            </a:r>
            <a:endParaRPr lang="en-US" altLang="zh-TW" sz="12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2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預留</a:t>
            </a:r>
            <a:endParaRPr lang="en-US" altLang="zh-TW" sz="1200" b="1" u="sng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71" name="直線單箭頭接點 70"/>
          <p:cNvCxnSpPr>
            <a:endCxn id="69" idx="1"/>
          </p:cNvCxnSpPr>
          <p:nvPr/>
        </p:nvCxnSpPr>
        <p:spPr>
          <a:xfrm flipV="1">
            <a:off x="2560320" y="2117412"/>
            <a:ext cx="2136906" cy="94998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單箭頭接點 71"/>
          <p:cNvCxnSpPr>
            <a:endCxn id="73" idx="2"/>
          </p:cNvCxnSpPr>
          <p:nvPr/>
        </p:nvCxnSpPr>
        <p:spPr>
          <a:xfrm flipV="1">
            <a:off x="2775584" y="1394233"/>
            <a:ext cx="770506" cy="833579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字方塊 72"/>
          <p:cNvSpPr txBox="1"/>
          <p:nvPr/>
        </p:nvSpPr>
        <p:spPr>
          <a:xfrm>
            <a:off x="3143627" y="1178789"/>
            <a:ext cx="804926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fontAlgn="b"/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手臂有無偵測</a:t>
            </a:r>
            <a:endParaRPr lang="en-US" altLang="zh-TW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75" name="直線單箭頭接點 74"/>
          <p:cNvCxnSpPr>
            <a:endCxn id="77" idx="2"/>
          </p:cNvCxnSpPr>
          <p:nvPr/>
        </p:nvCxnSpPr>
        <p:spPr>
          <a:xfrm flipH="1" flipV="1">
            <a:off x="1007134" y="1657415"/>
            <a:ext cx="1162488" cy="57039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方塊 75"/>
          <p:cNvSpPr txBox="1"/>
          <p:nvPr/>
        </p:nvSpPr>
        <p:spPr>
          <a:xfrm>
            <a:off x="415636" y="1202658"/>
            <a:ext cx="1016921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fontAlgn="b"/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Mapping Sensor</a:t>
            </a:r>
          </a:p>
        </p:txBody>
      </p:sp>
      <p:sp>
        <p:nvSpPr>
          <p:cNvPr id="77" name="文字方塊 76"/>
          <p:cNvSpPr txBox="1"/>
          <p:nvPr/>
        </p:nvSpPr>
        <p:spPr>
          <a:xfrm>
            <a:off x="665480" y="1411194"/>
            <a:ext cx="68330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X0114</a:t>
            </a:r>
            <a:endParaRPr lang="zh-TW" altLang="en-US" sz="10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78" name="直線單箭頭接點 77"/>
          <p:cNvCxnSpPr>
            <a:endCxn id="80" idx="2"/>
          </p:cNvCxnSpPr>
          <p:nvPr/>
        </p:nvCxnSpPr>
        <p:spPr>
          <a:xfrm flipH="1" flipV="1">
            <a:off x="2122406" y="1478168"/>
            <a:ext cx="521041" cy="80783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文字方塊 78"/>
          <p:cNvSpPr txBox="1"/>
          <p:nvPr/>
        </p:nvSpPr>
        <p:spPr>
          <a:xfrm>
            <a:off x="1501407" y="1023411"/>
            <a:ext cx="1212042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 fontAlgn="b"/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Wafer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凸出檢知</a:t>
            </a:r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Sensor</a:t>
            </a:r>
          </a:p>
        </p:txBody>
      </p:sp>
      <p:sp>
        <p:nvSpPr>
          <p:cNvPr id="80" name="文字方塊 79"/>
          <p:cNvSpPr txBox="1"/>
          <p:nvPr/>
        </p:nvSpPr>
        <p:spPr>
          <a:xfrm>
            <a:off x="1780752" y="1231947"/>
            <a:ext cx="68330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X0115</a:t>
            </a:r>
            <a:endParaRPr lang="zh-TW" altLang="en-US" sz="10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81" name="直線單箭頭接點 80"/>
          <p:cNvCxnSpPr>
            <a:endCxn id="82" idx="1"/>
          </p:cNvCxnSpPr>
          <p:nvPr/>
        </p:nvCxnSpPr>
        <p:spPr>
          <a:xfrm flipV="1">
            <a:off x="3092335" y="3178148"/>
            <a:ext cx="1278208" cy="41295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文字方塊 81"/>
          <p:cNvSpPr txBox="1"/>
          <p:nvPr/>
        </p:nvSpPr>
        <p:spPr>
          <a:xfrm>
            <a:off x="4370543" y="3070426"/>
            <a:ext cx="1631122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 fontAlgn="b"/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FOUP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開門機構</a:t>
            </a:r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Latch Key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旋轉</a:t>
            </a:r>
            <a:endParaRPr lang="en-US" altLang="zh-TW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3" name="文字方塊 92"/>
          <p:cNvSpPr txBox="1"/>
          <p:nvPr/>
        </p:nvSpPr>
        <p:spPr>
          <a:xfrm>
            <a:off x="4841088" y="3312214"/>
            <a:ext cx="68330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X0116</a:t>
            </a:r>
          </a:p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X0117</a:t>
            </a:r>
            <a:endParaRPr lang="zh-TW" altLang="en-US" sz="10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94" name="直線單箭頭接點 93"/>
          <p:cNvCxnSpPr>
            <a:endCxn id="96" idx="2"/>
          </p:cNvCxnSpPr>
          <p:nvPr/>
        </p:nvCxnSpPr>
        <p:spPr>
          <a:xfrm flipH="1" flipV="1">
            <a:off x="851313" y="3558435"/>
            <a:ext cx="1976420" cy="73924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字方塊 94"/>
          <p:cNvSpPr txBox="1"/>
          <p:nvPr/>
        </p:nvSpPr>
        <p:spPr>
          <a:xfrm>
            <a:off x="259815" y="3103678"/>
            <a:ext cx="1172742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fontAlgn="b">
              <a:defRPr/>
            </a:pPr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FOUP Cover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有無偵測</a:t>
            </a:r>
            <a:endParaRPr lang="en-US" altLang="zh-TW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6" name="文字方塊 95"/>
          <p:cNvSpPr txBox="1"/>
          <p:nvPr/>
        </p:nvSpPr>
        <p:spPr>
          <a:xfrm>
            <a:off x="509659" y="3312214"/>
            <a:ext cx="68330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X0118</a:t>
            </a:r>
            <a:endParaRPr lang="zh-TW" altLang="en-US" sz="10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7" name="文字方塊 96"/>
          <p:cNvSpPr txBox="1"/>
          <p:nvPr/>
        </p:nvSpPr>
        <p:spPr>
          <a:xfrm>
            <a:off x="3160837" y="915689"/>
            <a:ext cx="856148" cy="21544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點卡在</a:t>
            </a:r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Table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3948553" y="1178789"/>
            <a:ext cx="68330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X0113</a:t>
            </a:r>
            <a:endParaRPr lang="zh-TW" altLang="en-US" sz="10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18112" y="2860948"/>
            <a:ext cx="856148" cy="21544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點卡在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下方</a:t>
            </a:r>
          </a:p>
        </p:txBody>
      </p:sp>
    </p:spTree>
    <p:extLst>
      <p:ext uri="{BB962C8B-B14F-4D97-AF65-F5344CB8AC3E}">
        <p14:creationId xmlns:p14="http://schemas.microsoft.com/office/powerpoint/2010/main" val="118570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5905" y="1075336"/>
            <a:ext cx="4153448" cy="3811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標題 1"/>
          <p:cNvSpPr txBox="1">
            <a:spLocks/>
          </p:cNvSpPr>
          <p:nvPr/>
        </p:nvSpPr>
        <p:spPr>
          <a:xfrm>
            <a:off x="1805107" y="0"/>
            <a:ext cx="7070342" cy="55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zh-TW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FLP-A~D</a:t>
            </a:r>
            <a:endParaRPr lang="zh-TW" alt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3207236" y="6532199"/>
            <a:ext cx="2794429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順序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面對操作面，順時鐘方向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6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337" y="4649029"/>
            <a:ext cx="1304439" cy="1390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" name="文字方塊 26"/>
          <p:cNvSpPr txBox="1"/>
          <p:nvPr/>
        </p:nvSpPr>
        <p:spPr>
          <a:xfrm>
            <a:off x="1515676" y="5358105"/>
            <a:ext cx="75807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X0110</a:t>
            </a:r>
            <a:endParaRPr lang="en-US" altLang="zh-TW" sz="12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預留</a:t>
            </a:r>
            <a:endParaRPr lang="en-US" altLang="zh-TW" sz="1200" b="1" u="sng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28" name="直線單箭頭接點 27"/>
          <p:cNvCxnSpPr>
            <a:stCxn id="26" idx="3"/>
          </p:cNvCxnSpPr>
          <p:nvPr/>
        </p:nvCxnSpPr>
        <p:spPr>
          <a:xfrm flipV="1">
            <a:off x="2540776" y="4466975"/>
            <a:ext cx="1108503" cy="87721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字方塊 28"/>
          <p:cNvSpPr txBox="1"/>
          <p:nvPr/>
        </p:nvSpPr>
        <p:spPr>
          <a:xfrm>
            <a:off x="987333" y="3976242"/>
            <a:ext cx="979896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 fontAlgn="ctr"/>
            <a:r>
              <a:rPr lang="en-US" altLang="zh-TW" sz="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OP</a:t>
            </a:r>
            <a:r>
              <a:rPr lang="zh-TW" altLang="en-US" sz="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手動按鈕</a:t>
            </a:r>
          </a:p>
        </p:txBody>
      </p:sp>
      <p:cxnSp>
        <p:nvCxnSpPr>
          <p:cNvPr id="30" name="直線單箭頭接點 29"/>
          <p:cNvCxnSpPr>
            <a:stCxn id="29" idx="3"/>
          </p:cNvCxnSpPr>
          <p:nvPr/>
        </p:nvCxnSpPr>
        <p:spPr>
          <a:xfrm>
            <a:off x="1967229" y="4083964"/>
            <a:ext cx="1098686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/>
          <p:cNvSpPr txBox="1"/>
          <p:nvPr/>
        </p:nvSpPr>
        <p:spPr>
          <a:xfrm>
            <a:off x="1143234" y="4208900"/>
            <a:ext cx="68330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X0112</a:t>
            </a:r>
          </a:p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Y210E</a:t>
            </a:r>
            <a:endParaRPr lang="zh-TW" altLang="en-US" sz="10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4004628"/>
              </p:ext>
            </p:extLst>
          </p:nvPr>
        </p:nvGraphicFramePr>
        <p:xfrm>
          <a:off x="6723112" y="1125991"/>
          <a:ext cx="2152337" cy="1080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7779"/>
                <a:gridCol w="1624558"/>
              </a:tblGrid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IO</a:t>
                      </a:r>
                      <a:r>
                        <a:rPr lang="zh-TW" altLang="en-US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00" u="none" strike="noStrike" dirty="0" smtClea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中文名稱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effectLst/>
                          <a:latin typeface="標楷體"/>
                        </a:rPr>
                        <a:t>X0110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r>
                        <a:rPr lang="en-US" altLang="zh-TW" sz="1000" dirty="0" smtClean="0"/>
                        <a:t>FOUP</a:t>
                      </a:r>
                      <a:r>
                        <a:rPr lang="zh-TW" altLang="en-US" sz="1000" dirty="0" smtClean="0"/>
                        <a:t>承載台前後氣缸</a:t>
                      </a:r>
                      <a:r>
                        <a:rPr lang="en-US" altLang="zh-TW" sz="1000" dirty="0" smtClean="0"/>
                        <a:t>-</a:t>
                      </a:r>
                      <a:r>
                        <a:rPr lang="zh-TW" altLang="en-US" sz="1000" dirty="0" smtClean="0"/>
                        <a:t>伸出</a:t>
                      </a:r>
                      <a:endParaRPr lang="zh-TW" altLang="en-US" sz="1000" dirty="0"/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effectLst/>
                          <a:latin typeface="標楷體"/>
                        </a:rPr>
                        <a:t>X0111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r>
                        <a:rPr lang="en-US" altLang="zh-TW" sz="1000" dirty="0" smtClean="0"/>
                        <a:t>FOUP</a:t>
                      </a:r>
                      <a:r>
                        <a:rPr lang="zh-TW" altLang="en-US" sz="1000" dirty="0" smtClean="0"/>
                        <a:t>承載台前後氣缸</a:t>
                      </a:r>
                      <a:r>
                        <a:rPr lang="en-US" altLang="zh-TW" sz="1000" dirty="0" smtClean="0"/>
                        <a:t>-</a:t>
                      </a:r>
                      <a:r>
                        <a:rPr lang="zh-TW" altLang="en-US" sz="1000" dirty="0" smtClean="0"/>
                        <a:t>收回</a:t>
                      </a:r>
                      <a:endParaRPr lang="zh-TW" altLang="en-US" sz="1000" dirty="0"/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effectLst/>
                          <a:latin typeface="標楷體"/>
                        </a:rPr>
                        <a:t>X0112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b="0" u="none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OP</a:t>
                      </a:r>
                      <a:r>
                        <a:rPr lang="zh-TW" altLang="en-US" sz="1000" b="0" u="none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手動按鈕偵測</a:t>
                      </a: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effectLst/>
                          <a:latin typeface="標楷體"/>
                        </a:rPr>
                        <a:t>X0113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zh-TW" altLang="en-US" sz="1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手臂有無偵測</a:t>
                      </a: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61" name="文字方塊 60"/>
          <p:cNvSpPr txBox="1"/>
          <p:nvPr/>
        </p:nvSpPr>
        <p:spPr>
          <a:xfrm>
            <a:off x="739828" y="3006387"/>
            <a:ext cx="1238480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 fontAlgn="ctr"/>
            <a:r>
              <a:rPr lang="en-US" altLang="zh-TW" sz="800" dirty="0"/>
              <a:t>FOUP</a:t>
            </a:r>
            <a:r>
              <a:rPr lang="zh-TW" altLang="en-US" sz="800" dirty="0"/>
              <a:t>承載台前後氣缸</a:t>
            </a:r>
            <a:endParaRPr lang="zh-TW" altLang="en-US" sz="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62" name="直線單箭頭接點 61"/>
          <p:cNvCxnSpPr>
            <a:stCxn id="61" idx="3"/>
          </p:cNvCxnSpPr>
          <p:nvPr/>
        </p:nvCxnSpPr>
        <p:spPr>
          <a:xfrm>
            <a:off x="1978308" y="3114109"/>
            <a:ext cx="1098686" cy="40216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字方塊 62"/>
          <p:cNvSpPr txBox="1"/>
          <p:nvPr/>
        </p:nvSpPr>
        <p:spPr>
          <a:xfrm>
            <a:off x="979740" y="3239045"/>
            <a:ext cx="68330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X0110</a:t>
            </a:r>
          </a:p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X0111</a:t>
            </a:r>
            <a:endParaRPr lang="zh-TW" altLang="en-US" sz="10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187892" y="4393566"/>
            <a:ext cx="1036661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OUTPUT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點卡在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下方配電盤</a:t>
            </a:r>
          </a:p>
        </p:txBody>
      </p:sp>
    </p:spTree>
    <p:extLst>
      <p:ext uri="{BB962C8B-B14F-4D97-AF65-F5344CB8AC3E}">
        <p14:creationId xmlns:p14="http://schemas.microsoft.com/office/powerpoint/2010/main" val="2324066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2796" y="1249909"/>
            <a:ext cx="4153448" cy="3811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標題 1"/>
          <p:cNvSpPr txBox="1">
            <a:spLocks/>
          </p:cNvSpPr>
          <p:nvPr/>
        </p:nvSpPr>
        <p:spPr>
          <a:xfrm>
            <a:off x="1805107" y="0"/>
            <a:ext cx="7070342" cy="55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zh-TW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FLP-A~D</a:t>
            </a:r>
            <a:endParaRPr lang="zh-TW" alt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3207236" y="6532199"/>
            <a:ext cx="2794429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順序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面對操作面，順時鐘方向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6627103"/>
              </p:ext>
            </p:extLst>
          </p:nvPr>
        </p:nvGraphicFramePr>
        <p:xfrm>
          <a:off x="6723112" y="1125991"/>
          <a:ext cx="2152337" cy="1944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7779"/>
                <a:gridCol w="1624558"/>
              </a:tblGrid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IO</a:t>
                      </a:r>
                      <a:r>
                        <a:rPr lang="zh-TW" altLang="en-US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00" u="none" strike="noStrike" dirty="0" smtClea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中文名稱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effectLst/>
                          <a:latin typeface="標楷體"/>
                        </a:rPr>
                        <a:t>X0100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dirty="0" smtClean="0"/>
                        <a:t>FOUP INFOPAD-1</a:t>
                      </a:r>
                      <a:endParaRPr lang="zh-TW" altLang="en-US" sz="10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effectLst/>
                          <a:latin typeface="標楷體"/>
                        </a:rPr>
                        <a:t>X0101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dirty="0" smtClean="0"/>
                        <a:t>FOUP INFOPAD-2</a:t>
                      </a:r>
                      <a:endParaRPr lang="zh-TW" altLang="en-US" sz="10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effectLst/>
                          <a:latin typeface="標楷體"/>
                        </a:rPr>
                        <a:t>X0102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dirty="0" smtClean="0"/>
                        <a:t>FOUP INFOPAD-3</a:t>
                      </a:r>
                      <a:endParaRPr lang="zh-TW" altLang="en-US" sz="10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effectLst/>
                          <a:latin typeface="標楷體"/>
                        </a:rPr>
                        <a:t>X0103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dirty="0" smtClean="0"/>
                        <a:t>FOUP INFOPAD-4</a:t>
                      </a:r>
                      <a:endParaRPr lang="zh-TW" altLang="en-US" sz="1000" b="1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effectLst/>
                          <a:latin typeface="標楷體"/>
                        </a:rPr>
                        <a:t>X0104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dirty="0" smtClean="0"/>
                        <a:t>FOUP</a:t>
                      </a:r>
                      <a:r>
                        <a:rPr lang="zh-TW" altLang="en-US" sz="1000" dirty="0" smtClean="0"/>
                        <a:t>放置到位偵測</a:t>
                      </a:r>
                      <a:r>
                        <a:rPr lang="en-US" altLang="zh-TW" sz="1000" dirty="0" smtClean="0"/>
                        <a:t>-1</a:t>
                      </a:r>
                      <a:endParaRPr lang="zh-TW" altLang="en-US" sz="1000" b="1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effectLst/>
                          <a:latin typeface="標楷體"/>
                        </a:rPr>
                        <a:t>X0105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dirty="0" smtClean="0"/>
                        <a:t>FOUP</a:t>
                      </a:r>
                      <a:r>
                        <a:rPr lang="zh-TW" altLang="en-US" sz="1000" dirty="0" smtClean="0"/>
                        <a:t>放置到位偵測</a:t>
                      </a:r>
                      <a:r>
                        <a:rPr lang="en-US" altLang="zh-TW" sz="1000" dirty="0" smtClean="0"/>
                        <a:t>-2</a:t>
                      </a:r>
                      <a:endParaRPr lang="zh-TW" altLang="en-US" sz="1000" b="1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effectLst/>
                          <a:latin typeface="標楷體"/>
                        </a:rPr>
                        <a:t>X0106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dirty="0" smtClean="0"/>
                        <a:t>FOUP</a:t>
                      </a:r>
                      <a:r>
                        <a:rPr lang="zh-TW" altLang="en-US" sz="1000" dirty="0" smtClean="0"/>
                        <a:t>放置到位偵測</a:t>
                      </a:r>
                      <a:r>
                        <a:rPr lang="en-US" altLang="zh-TW" sz="1000" dirty="0" smtClean="0"/>
                        <a:t>-3</a:t>
                      </a:r>
                      <a:endParaRPr lang="zh-TW" altLang="en-US" sz="1000" b="1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標楷體"/>
                          <a:ea typeface="+mn-ea"/>
                          <a:cs typeface="+mn-cs"/>
                          <a:sym typeface="Arial"/>
                        </a:rPr>
                        <a:t>X0107</a:t>
                      </a:r>
                      <a:endParaRPr kumimoji="0" lang="en-US" altLang="zh-TW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標楷體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000" dirty="0" smtClean="0"/>
                        <a:t>光柵</a:t>
                      </a:r>
                      <a:endParaRPr lang="zh-TW" altLang="en-US" sz="1000" dirty="0"/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3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3018062" y="5098047"/>
            <a:ext cx="1455549" cy="1343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2" name="文字方塊 41"/>
          <p:cNvSpPr txBox="1"/>
          <p:nvPr/>
        </p:nvSpPr>
        <p:spPr>
          <a:xfrm>
            <a:off x="3366796" y="5538926"/>
            <a:ext cx="758079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X0100</a:t>
            </a:r>
            <a:endParaRPr lang="en-US" altLang="zh-TW" sz="12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X0104</a:t>
            </a:r>
          </a:p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X0108</a:t>
            </a:r>
          </a:p>
          <a:p>
            <a:pPr algn="ctr"/>
            <a:r>
              <a:rPr lang="zh-TW" altLang="en-US" sz="12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預留</a:t>
            </a:r>
            <a:endParaRPr lang="en-US" altLang="zh-TW" sz="1200" b="1" u="sng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44" name="直線單箭頭接點 43"/>
          <p:cNvCxnSpPr>
            <a:endCxn id="39" idx="2"/>
          </p:cNvCxnSpPr>
          <p:nvPr/>
        </p:nvCxnSpPr>
        <p:spPr>
          <a:xfrm>
            <a:off x="3532884" y="3613673"/>
            <a:ext cx="212952" cy="148437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字方塊 60"/>
          <p:cNvSpPr txBox="1"/>
          <p:nvPr/>
        </p:nvSpPr>
        <p:spPr>
          <a:xfrm>
            <a:off x="107852" y="2175129"/>
            <a:ext cx="1088846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 fontAlgn="ctr"/>
            <a:r>
              <a:rPr lang="en-US" altLang="zh-TW" sz="800" dirty="0"/>
              <a:t>FOUP </a:t>
            </a:r>
            <a:r>
              <a:rPr lang="en-US" altLang="zh-TW" sz="800" dirty="0" smtClean="0"/>
              <a:t>INFOPAD-1</a:t>
            </a:r>
            <a:endParaRPr lang="zh-TW" altLang="en-US" sz="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62" name="直線單箭頭接點 61"/>
          <p:cNvCxnSpPr>
            <a:stCxn id="61" idx="3"/>
          </p:cNvCxnSpPr>
          <p:nvPr/>
        </p:nvCxnSpPr>
        <p:spPr>
          <a:xfrm>
            <a:off x="1196698" y="2282851"/>
            <a:ext cx="1363622" cy="24265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字方塊 62"/>
          <p:cNvSpPr txBox="1"/>
          <p:nvPr/>
        </p:nvSpPr>
        <p:spPr>
          <a:xfrm>
            <a:off x="264634" y="2407787"/>
            <a:ext cx="68330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X0100</a:t>
            </a:r>
          </a:p>
        </p:txBody>
      </p:sp>
      <p:sp>
        <p:nvSpPr>
          <p:cNvPr id="24" name="文字方塊 23"/>
          <p:cNvSpPr txBox="1"/>
          <p:nvPr/>
        </p:nvSpPr>
        <p:spPr>
          <a:xfrm>
            <a:off x="110618" y="2859561"/>
            <a:ext cx="1088846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 fontAlgn="ctr"/>
            <a:r>
              <a:rPr lang="en-US" altLang="zh-TW" sz="800" dirty="0"/>
              <a:t>FOUP </a:t>
            </a:r>
            <a:r>
              <a:rPr lang="en-US" altLang="zh-TW" sz="800" dirty="0" smtClean="0"/>
              <a:t>INFOPAD-2</a:t>
            </a:r>
            <a:endParaRPr lang="zh-TW" altLang="en-US" sz="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25" name="直線單箭頭接點 24"/>
          <p:cNvCxnSpPr>
            <a:stCxn id="24" idx="3"/>
          </p:cNvCxnSpPr>
          <p:nvPr/>
        </p:nvCxnSpPr>
        <p:spPr>
          <a:xfrm flipV="1">
            <a:off x="1199464" y="2751513"/>
            <a:ext cx="1468744" cy="21577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267400" y="3092219"/>
            <a:ext cx="68330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X0101</a:t>
            </a:r>
          </a:p>
        </p:txBody>
      </p:sp>
      <p:sp>
        <p:nvSpPr>
          <p:cNvPr id="35" name="文字方塊 34"/>
          <p:cNvSpPr txBox="1"/>
          <p:nvPr/>
        </p:nvSpPr>
        <p:spPr>
          <a:xfrm>
            <a:off x="113384" y="3527367"/>
            <a:ext cx="1088846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 fontAlgn="ctr"/>
            <a:r>
              <a:rPr lang="en-US" altLang="zh-TW" sz="800" dirty="0"/>
              <a:t>FOUP </a:t>
            </a:r>
            <a:r>
              <a:rPr lang="en-US" altLang="zh-TW" sz="800" dirty="0" smtClean="0"/>
              <a:t>INFOPAD-3</a:t>
            </a:r>
            <a:endParaRPr lang="zh-TW" altLang="en-US" sz="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6" name="直線單箭頭接點 35"/>
          <p:cNvCxnSpPr>
            <a:stCxn id="35" idx="3"/>
          </p:cNvCxnSpPr>
          <p:nvPr/>
        </p:nvCxnSpPr>
        <p:spPr>
          <a:xfrm flipV="1">
            <a:off x="1202230" y="3075005"/>
            <a:ext cx="1815832" cy="56008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字方塊 36"/>
          <p:cNvSpPr txBox="1"/>
          <p:nvPr/>
        </p:nvSpPr>
        <p:spPr>
          <a:xfrm>
            <a:off x="270166" y="3760025"/>
            <a:ext cx="68330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X0102</a:t>
            </a:r>
          </a:p>
        </p:txBody>
      </p:sp>
      <p:sp>
        <p:nvSpPr>
          <p:cNvPr id="38" name="文字方塊 37"/>
          <p:cNvSpPr txBox="1"/>
          <p:nvPr/>
        </p:nvSpPr>
        <p:spPr>
          <a:xfrm>
            <a:off x="132776" y="4195173"/>
            <a:ext cx="1088846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 fontAlgn="ctr"/>
            <a:r>
              <a:rPr lang="en-US" altLang="zh-TW" sz="800" dirty="0"/>
              <a:t>FOUP </a:t>
            </a:r>
            <a:r>
              <a:rPr lang="en-US" altLang="zh-TW" sz="800" dirty="0" smtClean="0"/>
              <a:t>INFOPAD-4</a:t>
            </a:r>
            <a:endParaRPr lang="zh-TW" altLang="en-US" sz="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40" name="直線單箭頭接點 39"/>
          <p:cNvCxnSpPr>
            <a:stCxn id="38" idx="3"/>
          </p:cNvCxnSpPr>
          <p:nvPr/>
        </p:nvCxnSpPr>
        <p:spPr>
          <a:xfrm flipV="1">
            <a:off x="1221622" y="3092219"/>
            <a:ext cx="2311262" cy="121067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字方塊 40"/>
          <p:cNvSpPr txBox="1"/>
          <p:nvPr/>
        </p:nvSpPr>
        <p:spPr>
          <a:xfrm>
            <a:off x="289558" y="4427831"/>
            <a:ext cx="68330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X0103</a:t>
            </a:r>
          </a:p>
        </p:txBody>
      </p:sp>
      <p:sp>
        <p:nvSpPr>
          <p:cNvPr id="45" name="文字方塊 44"/>
          <p:cNvSpPr txBox="1"/>
          <p:nvPr/>
        </p:nvSpPr>
        <p:spPr>
          <a:xfrm>
            <a:off x="939314" y="663308"/>
            <a:ext cx="1218972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 fontAlgn="ctr"/>
            <a:r>
              <a:rPr lang="en-US" altLang="zh-TW" sz="800" dirty="0"/>
              <a:t>FOUP</a:t>
            </a:r>
            <a:r>
              <a:rPr lang="zh-TW" altLang="en-US" sz="800" dirty="0"/>
              <a:t>放置到位</a:t>
            </a:r>
            <a:r>
              <a:rPr lang="zh-TW" altLang="en-US" sz="800" dirty="0" smtClean="0"/>
              <a:t>偵測</a:t>
            </a:r>
            <a:r>
              <a:rPr lang="en-US" altLang="zh-TW" sz="800" dirty="0" smtClean="0"/>
              <a:t>-1</a:t>
            </a:r>
            <a:endParaRPr lang="zh-TW" altLang="en-US" sz="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46" name="直線單箭頭接點 45"/>
          <p:cNvCxnSpPr>
            <a:stCxn id="45" idx="3"/>
          </p:cNvCxnSpPr>
          <p:nvPr/>
        </p:nvCxnSpPr>
        <p:spPr>
          <a:xfrm>
            <a:off x="2158286" y="771030"/>
            <a:ext cx="1208510" cy="103283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字方塊 46"/>
          <p:cNvSpPr txBox="1"/>
          <p:nvPr/>
        </p:nvSpPr>
        <p:spPr>
          <a:xfrm>
            <a:off x="1226221" y="895966"/>
            <a:ext cx="68330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X0104</a:t>
            </a:r>
          </a:p>
        </p:txBody>
      </p:sp>
      <p:sp>
        <p:nvSpPr>
          <p:cNvPr id="48" name="文字方塊 47"/>
          <p:cNvSpPr txBox="1"/>
          <p:nvPr/>
        </p:nvSpPr>
        <p:spPr>
          <a:xfrm>
            <a:off x="620320" y="1349880"/>
            <a:ext cx="1218972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 fontAlgn="ctr"/>
            <a:r>
              <a:rPr lang="en-US" altLang="zh-TW" sz="800" dirty="0"/>
              <a:t>FOUP</a:t>
            </a:r>
            <a:r>
              <a:rPr lang="zh-TW" altLang="en-US" sz="800" dirty="0"/>
              <a:t>放置到位</a:t>
            </a:r>
            <a:r>
              <a:rPr lang="zh-TW" altLang="en-US" sz="800" dirty="0" smtClean="0"/>
              <a:t>偵測</a:t>
            </a:r>
            <a:r>
              <a:rPr lang="en-US" altLang="zh-TW" sz="800" dirty="0" smtClean="0"/>
              <a:t>-2</a:t>
            </a:r>
            <a:endParaRPr lang="zh-TW" altLang="en-US" sz="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49" name="直線單箭頭接點 48"/>
          <p:cNvCxnSpPr>
            <a:stCxn id="48" idx="3"/>
          </p:cNvCxnSpPr>
          <p:nvPr/>
        </p:nvCxnSpPr>
        <p:spPr>
          <a:xfrm>
            <a:off x="1839292" y="1457602"/>
            <a:ext cx="1078450" cy="111100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字方塊 49"/>
          <p:cNvSpPr txBox="1"/>
          <p:nvPr/>
        </p:nvSpPr>
        <p:spPr>
          <a:xfrm>
            <a:off x="907227" y="1582538"/>
            <a:ext cx="68330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X0105</a:t>
            </a:r>
          </a:p>
        </p:txBody>
      </p:sp>
      <p:sp>
        <p:nvSpPr>
          <p:cNvPr id="51" name="文字方塊 50"/>
          <p:cNvSpPr txBox="1"/>
          <p:nvPr/>
        </p:nvSpPr>
        <p:spPr>
          <a:xfrm>
            <a:off x="4619070" y="5224284"/>
            <a:ext cx="1218972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 fontAlgn="ctr"/>
            <a:r>
              <a:rPr lang="en-US" altLang="zh-TW" sz="800" dirty="0"/>
              <a:t>FOUP</a:t>
            </a:r>
            <a:r>
              <a:rPr lang="zh-TW" altLang="en-US" sz="800" dirty="0"/>
              <a:t>放置到位</a:t>
            </a:r>
            <a:r>
              <a:rPr lang="zh-TW" altLang="en-US" sz="800" dirty="0" smtClean="0"/>
              <a:t>偵測</a:t>
            </a:r>
            <a:r>
              <a:rPr lang="en-US" altLang="zh-TW" sz="800" dirty="0" smtClean="0"/>
              <a:t>-3</a:t>
            </a:r>
            <a:endParaRPr lang="zh-TW" altLang="en-US" sz="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52" name="直線單箭頭接點 51"/>
          <p:cNvCxnSpPr>
            <a:stCxn id="51" idx="0"/>
          </p:cNvCxnSpPr>
          <p:nvPr/>
        </p:nvCxnSpPr>
        <p:spPr>
          <a:xfrm flipH="1" flipV="1">
            <a:off x="4567170" y="2676328"/>
            <a:ext cx="661386" cy="254795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字方塊 52"/>
          <p:cNvSpPr txBox="1"/>
          <p:nvPr/>
        </p:nvSpPr>
        <p:spPr>
          <a:xfrm>
            <a:off x="4905977" y="5456942"/>
            <a:ext cx="68330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X0106</a:t>
            </a:r>
          </a:p>
        </p:txBody>
      </p:sp>
      <p:graphicFrame>
        <p:nvGraphicFramePr>
          <p:cNvPr id="54" name="表格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2528048"/>
              </p:ext>
            </p:extLst>
          </p:nvPr>
        </p:nvGraphicFramePr>
        <p:xfrm>
          <a:off x="6734191" y="3398206"/>
          <a:ext cx="2152337" cy="1080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7779"/>
                <a:gridCol w="1624558"/>
              </a:tblGrid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IO</a:t>
                      </a:r>
                      <a:r>
                        <a:rPr lang="zh-TW" altLang="en-US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00" u="none" strike="noStrike" dirty="0" smtClea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中文名稱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effectLst/>
                          <a:latin typeface="標楷體"/>
                        </a:rPr>
                        <a:t>X0108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dirty="0" smtClean="0"/>
                        <a:t>FOUP</a:t>
                      </a:r>
                      <a:r>
                        <a:rPr lang="zh-TW" altLang="en-US" sz="1000" dirty="0" smtClean="0"/>
                        <a:t>夾持氣缸</a:t>
                      </a:r>
                      <a:r>
                        <a:rPr lang="en-US" altLang="zh-TW" sz="1000" dirty="0" smtClean="0"/>
                        <a:t>-Z</a:t>
                      </a:r>
                      <a:r>
                        <a:rPr lang="zh-TW" altLang="en-US" sz="1000" dirty="0" smtClean="0"/>
                        <a:t>軸</a:t>
                      </a:r>
                      <a:r>
                        <a:rPr lang="en-US" altLang="zh-TW" sz="1000" dirty="0" smtClean="0"/>
                        <a:t>-</a:t>
                      </a:r>
                      <a:r>
                        <a:rPr lang="zh-TW" altLang="en-US" sz="1000" dirty="0" smtClean="0"/>
                        <a:t>伸出</a:t>
                      </a:r>
                      <a:endParaRPr lang="zh-TW" altLang="en-US" sz="1000" b="1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effectLst/>
                          <a:latin typeface="標楷體"/>
                        </a:rPr>
                        <a:t>X0109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dirty="0" smtClean="0"/>
                        <a:t>FOUP</a:t>
                      </a:r>
                      <a:r>
                        <a:rPr lang="zh-TW" altLang="en-US" sz="1000" dirty="0" smtClean="0"/>
                        <a:t>夾持氣缸</a:t>
                      </a:r>
                      <a:r>
                        <a:rPr lang="en-US" altLang="zh-TW" sz="1000" dirty="0" smtClean="0"/>
                        <a:t>-Z</a:t>
                      </a:r>
                      <a:r>
                        <a:rPr lang="zh-TW" altLang="en-US" sz="1000" dirty="0" smtClean="0"/>
                        <a:t>軸</a:t>
                      </a:r>
                      <a:r>
                        <a:rPr lang="en-US" altLang="zh-TW" sz="1000" dirty="0" smtClean="0"/>
                        <a:t>-</a:t>
                      </a:r>
                      <a:r>
                        <a:rPr lang="zh-TW" altLang="en-US" sz="1000" dirty="0" smtClean="0"/>
                        <a:t>收回</a:t>
                      </a:r>
                      <a:endParaRPr lang="zh-TW" altLang="en-US" sz="1000" b="1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effectLst/>
                          <a:latin typeface="標楷體"/>
                        </a:rPr>
                        <a:t>X010A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dirty="0" smtClean="0"/>
                        <a:t>FOUP</a:t>
                      </a:r>
                      <a:r>
                        <a:rPr lang="zh-TW" altLang="en-US" sz="1000" dirty="0" smtClean="0"/>
                        <a:t>夾持氣缸</a:t>
                      </a:r>
                      <a:r>
                        <a:rPr lang="en-US" altLang="zh-TW" sz="1000" dirty="0" smtClean="0"/>
                        <a:t>-Y</a:t>
                      </a:r>
                      <a:r>
                        <a:rPr lang="zh-TW" altLang="en-US" sz="1000" dirty="0" smtClean="0"/>
                        <a:t>軸</a:t>
                      </a:r>
                      <a:r>
                        <a:rPr lang="en-US" altLang="zh-TW" sz="1000" dirty="0" smtClean="0"/>
                        <a:t>-</a:t>
                      </a:r>
                      <a:r>
                        <a:rPr lang="zh-TW" altLang="en-US" sz="1000" dirty="0" smtClean="0"/>
                        <a:t>伸出</a:t>
                      </a:r>
                      <a:endParaRPr lang="zh-TW" altLang="en-US" sz="1000" b="1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effectLst/>
                          <a:latin typeface="標楷體"/>
                        </a:rPr>
                        <a:t>X010B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dirty="0" smtClean="0"/>
                        <a:t>FOUP</a:t>
                      </a:r>
                      <a:r>
                        <a:rPr lang="zh-TW" altLang="en-US" sz="1000" dirty="0" smtClean="0"/>
                        <a:t>夾持氣缸</a:t>
                      </a:r>
                      <a:r>
                        <a:rPr lang="en-US" altLang="zh-TW" sz="1000" dirty="0" smtClean="0"/>
                        <a:t>-Y</a:t>
                      </a:r>
                      <a:r>
                        <a:rPr lang="zh-TW" altLang="en-US" sz="1000" dirty="0" smtClean="0"/>
                        <a:t>軸</a:t>
                      </a:r>
                      <a:r>
                        <a:rPr lang="en-US" altLang="zh-TW" sz="1000" dirty="0" smtClean="0"/>
                        <a:t>-</a:t>
                      </a:r>
                      <a:r>
                        <a:rPr lang="zh-TW" altLang="en-US" sz="1000" dirty="0" smtClean="0"/>
                        <a:t>收回</a:t>
                      </a:r>
                      <a:endParaRPr lang="zh-TW" altLang="en-US" sz="1000" b="1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56" name="文字方塊 55"/>
          <p:cNvSpPr txBox="1"/>
          <p:nvPr/>
        </p:nvSpPr>
        <p:spPr>
          <a:xfrm>
            <a:off x="3029874" y="600264"/>
            <a:ext cx="1218972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 fontAlgn="ctr"/>
            <a:r>
              <a:rPr lang="en-US" altLang="zh-TW" sz="800" dirty="0"/>
              <a:t>FOUP</a:t>
            </a:r>
            <a:r>
              <a:rPr lang="zh-TW" altLang="en-US" sz="800" dirty="0"/>
              <a:t>夾持氣缸</a:t>
            </a:r>
            <a:r>
              <a:rPr lang="en-US" altLang="zh-TW" sz="800" dirty="0"/>
              <a:t>-Y</a:t>
            </a:r>
            <a:r>
              <a:rPr lang="zh-TW" altLang="en-US" sz="800" dirty="0"/>
              <a:t>軸</a:t>
            </a:r>
            <a:endParaRPr lang="zh-TW" altLang="en-US" sz="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57" name="直線單箭頭接點 56"/>
          <p:cNvCxnSpPr/>
          <p:nvPr/>
        </p:nvCxnSpPr>
        <p:spPr>
          <a:xfrm>
            <a:off x="3639360" y="1249909"/>
            <a:ext cx="106476" cy="115426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字方塊 57"/>
          <p:cNvSpPr txBox="1"/>
          <p:nvPr/>
        </p:nvSpPr>
        <p:spPr>
          <a:xfrm>
            <a:off x="3316781" y="832922"/>
            <a:ext cx="68330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X010A</a:t>
            </a:r>
          </a:p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X010B</a:t>
            </a:r>
          </a:p>
        </p:txBody>
      </p:sp>
      <p:cxnSp>
        <p:nvCxnSpPr>
          <p:cNvPr id="64" name="直線單箭頭接點 63"/>
          <p:cNvCxnSpPr/>
          <p:nvPr/>
        </p:nvCxnSpPr>
        <p:spPr>
          <a:xfrm flipH="1">
            <a:off x="4124875" y="1249070"/>
            <a:ext cx="919585" cy="115871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字方塊 64"/>
          <p:cNvSpPr txBox="1"/>
          <p:nvPr/>
        </p:nvSpPr>
        <p:spPr>
          <a:xfrm>
            <a:off x="4702807" y="848960"/>
            <a:ext cx="68330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X0108</a:t>
            </a:r>
          </a:p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X0109</a:t>
            </a:r>
          </a:p>
        </p:txBody>
      </p:sp>
      <p:sp>
        <p:nvSpPr>
          <p:cNvPr id="66" name="文字方塊 65"/>
          <p:cNvSpPr txBox="1"/>
          <p:nvPr/>
        </p:nvSpPr>
        <p:spPr>
          <a:xfrm>
            <a:off x="4473611" y="621310"/>
            <a:ext cx="1218972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 fontAlgn="ctr"/>
            <a:r>
              <a:rPr lang="en-US" altLang="zh-TW" sz="800" dirty="0"/>
              <a:t>FOUP</a:t>
            </a:r>
            <a:r>
              <a:rPr lang="zh-TW" altLang="en-US" sz="800" dirty="0"/>
              <a:t>夾持氣缸</a:t>
            </a:r>
            <a:r>
              <a:rPr lang="en-US" altLang="zh-TW" sz="800" dirty="0" smtClean="0"/>
              <a:t>-Z</a:t>
            </a:r>
            <a:r>
              <a:rPr lang="zh-TW" altLang="en-US" sz="800" dirty="0" smtClean="0"/>
              <a:t>軸</a:t>
            </a:r>
            <a:endParaRPr lang="zh-TW" altLang="en-US" sz="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651543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645" y="1084967"/>
            <a:ext cx="4380744" cy="3985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標題 1"/>
          <p:cNvSpPr txBox="1">
            <a:spLocks/>
          </p:cNvSpPr>
          <p:nvPr/>
        </p:nvSpPr>
        <p:spPr>
          <a:xfrm>
            <a:off x="1805107" y="0"/>
            <a:ext cx="7070342" cy="55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zh-TW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FLP-A~D</a:t>
            </a:r>
            <a:endParaRPr lang="zh-TW" alt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3207236" y="6532199"/>
            <a:ext cx="2794429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順序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面對操作面，順時鐘方向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64" name="表格 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8155650"/>
              </p:ext>
            </p:extLst>
          </p:nvPr>
        </p:nvGraphicFramePr>
        <p:xfrm>
          <a:off x="6053246" y="1105264"/>
          <a:ext cx="2971837" cy="1944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33647"/>
                <a:gridCol w="2238190"/>
              </a:tblGrid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IO</a:t>
                      </a:r>
                      <a:r>
                        <a:rPr lang="zh-TW" altLang="en-US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00" u="none" strike="noStrike" dirty="0" smtClea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中文名稱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effectLst/>
                          <a:latin typeface="標楷體"/>
                        </a:rPr>
                        <a:t>X010C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FOUP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開門氣缸</a:t>
                      </a: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-Y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軸</a:t>
                      </a: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伸出</a:t>
                      </a:r>
                      <a:endParaRPr lang="en-US" altLang="zh-TW" sz="10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b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effectLst/>
                          <a:latin typeface="標楷體"/>
                        </a:rPr>
                        <a:t>X010D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FOUP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開門氣缸</a:t>
                      </a: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-Y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軸</a:t>
                      </a: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收回</a:t>
                      </a:r>
                      <a:endParaRPr lang="en-US" altLang="zh-TW" sz="10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b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effectLst/>
                          <a:latin typeface="標楷體"/>
                        </a:rPr>
                        <a:t>X010E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Mapping Sensor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氣缸</a:t>
                      </a: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伸出</a:t>
                      </a:r>
                      <a:endParaRPr lang="en-US" altLang="zh-TW" sz="10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b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effectLst/>
                          <a:latin typeface="標楷體"/>
                        </a:rPr>
                        <a:t>X010F</a:t>
                      </a:r>
                      <a:endParaRPr lang="en-US" sz="1200" b="0" i="0" u="none" strike="noStrike" dirty="0">
                        <a:effectLst/>
                        <a:latin typeface="標楷體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Mapping Sensor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氣缸</a:t>
                      </a: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收回</a:t>
                      </a:r>
                      <a:endParaRPr lang="en-US" altLang="zh-TW" sz="10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b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effectLst/>
                          <a:latin typeface="標楷體"/>
                        </a:rPr>
                        <a:t>X0118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FOUP Cover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有無偵測</a:t>
                      </a:r>
                      <a:endParaRPr lang="en-US" altLang="zh-TW" sz="10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b"/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effectLst/>
                          <a:latin typeface="標楷體"/>
                        </a:rPr>
                        <a:t>X0119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FOUP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開門機構真空偵測</a:t>
                      </a:r>
                      <a:endParaRPr lang="en-US" altLang="zh-TW" sz="10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b"/>
                </a:tc>
              </a:tr>
              <a:tr h="216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zh-TW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 cap="non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  <a:sym typeface="Arial"/>
                      </a:endParaRPr>
                    </a:p>
                  </a:txBody>
                  <a:tcPr marL="9525" marR="9525" marT="9525" marB="0" anchor="b"/>
                </a:tc>
              </a:tr>
              <a:tr h="216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zh-TW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zh-TW" sz="10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graphicFrame>
        <p:nvGraphicFramePr>
          <p:cNvPr id="65" name="表格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521059"/>
              </p:ext>
            </p:extLst>
          </p:nvPr>
        </p:nvGraphicFramePr>
        <p:xfrm>
          <a:off x="6064238" y="3194516"/>
          <a:ext cx="2971837" cy="1944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33647"/>
                <a:gridCol w="2238190"/>
              </a:tblGrid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IO</a:t>
                      </a:r>
                      <a:r>
                        <a:rPr lang="zh-TW" altLang="en-US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00" u="none" strike="noStrike" dirty="0" smtClea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中文名稱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標楷體"/>
                          <a:ea typeface="+mn-ea"/>
                          <a:cs typeface="+mn-cs"/>
                          <a:sym typeface="Arial"/>
                        </a:rPr>
                        <a:t>Y2110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FOUP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開門機構真空產生</a:t>
                      </a:r>
                      <a:endParaRPr lang="en-US" altLang="zh-TW" sz="10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b"/>
                </a:tc>
              </a:tr>
              <a:tr h="21600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標楷體"/>
                          <a:ea typeface="+mn-ea"/>
                          <a:cs typeface="+mn-cs"/>
                          <a:sym typeface="Arial"/>
                        </a:rPr>
                        <a:t>Y2111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FOUP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開門機構真空破壞</a:t>
                      </a:r>
                      <a:endParaRPr lang="en-US" altLang="zh-TW" sz="10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b"/>
                </a:tc>
              </a:tr>
              <a:tr h="21600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標楷體"/>
                          <a:ea typeface="+mn-ea"/>
                          <a:cs typeface="+mn-cs"/>
                          <a:sym typeface="Arial"/>
                        </a:rPr>
                        <a:t>Y2112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FOUP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開門機構</a:t>
                      </a: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Latch Key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旋轉</a:t>
                      </a: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伸出</a:t>
                      </a:r>
                      <a:endParaRPr lang="en-US" altLang="zh-TW" sz="10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b"/>
                </a:tc>
              </a:tr>
              <a:tr h="21600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標楷體"/>
                          <a:ea typeface="+mn-ea"/>
                          <a:cs typeface="+mn-cs"/>
                          <a:sym typeface="Arial"/>
                        </a:rPr>
                        <a:t>Y2113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FOUP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開門機構</a:t>
                      </a: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Latch Key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旋轉</a:t>
                      </a: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收回</a:t>
                      </a:r>
                      <a:endParaRPr lang="en-US" altLang="zh-TW" sz="10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b"/>
                </a:tc>
              </a:tr>
              <a:tr h="21600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標楷體"/>
                          <a:ea typeface="+mn-ea"/>
                          <a:cs typeface="+mn-cs"/>
                          <a:sym typeface="Arial"/>
                        </a:rPr>
                        <a:t>Y2114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FOUP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開門氣缸</a:t>
                      </a: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-Y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軸</a:t>
                      </a: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伸出</a:t>
                      </a:r>
                      <a:endParaRPr lang="en-US" altLang="zh-TW" sz="10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b"/>
                </a:tc>
              </a:tr>
              <a:tr h="21600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標楷體"/>
                          <a:ea typeface="+mn-ea"/>
                          <a:cs typeface="+mn-cs"/>
                          <a:sym typeface="Arial"/>
                        </a:rPr>
                        <a:t>Y2115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FOUP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開門氣缸</a:t>
                      </a: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-Y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軸</a:t>
                      </a: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收回</a:t>
                      </a:r>
                      <a:endParaRPr lang="en-US" altLang="zh-TW" sz="10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b"/>
                </a:tc>
              </a:tr>
              <a:tr h="21600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標楷體"/>
                          <a:ea typeface="+mn-ea"/>
                          <a:cs typeface="+mn-cs"/>
                          <a:sym typeface="Arial"/>
                        </a:rPr>
                        <a:t>Y2116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Mapping Sensor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氣缸</a:t>
                      </a: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伸出</a:t>
                      </a:r>
                      <a:endParaRPr lang="en-US" altLang="zh-TW" sz="10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b"/>
                </a:tc>
              </a:tr>
              <a:tr h="21600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標楷體"/>
                          <a:ea typeface="+mn-ea"/>
                          <a:cs typeface="+mn-cs"/>
                          <a:sym typeface="Arial"/>
                        </a:rPr>
                        <a:t>Y2117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Mapping Sensor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氣缸</a:t>
                      </a:r>
                      <a:r>
                        <a:rPr lang="en-US" altLang="zh-TW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r>
                        <a:rPr lang="zh-TW" altLang="en-US" sz="10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收回</a:t>
                      </a:r>
                      <a:endParaRPr lang="en-US" altLang="zh-TW" sz="10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cxnSp>
        <p:nvCxnSpPr>
          <p:cNvPr id="12" name="直線單箭頭接點 11"/>
          <p:cNvCxnSpPr>
            <a:endCxn id="13" idx="2"/>
          </p:cNvCxnSpPr>
          <p:nvPr/>
        </p:nvCxnSpPr>
        <p:spPr>
          <a:xfrm flipH="1" flipV="1">
            <a:off x="2203538" y="1285022"/>
            <a:ext cx="1088302" cy="1183859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1861884" y="884912"/>
            <a:ext cx="68330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X010C</a:t>
            </a:r>
          </a:p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X010D</a:t>
            </a:r>
            <a:endParaRPr lang="zh-TW" altLang="en-US" sz="10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1582539" y="676376"/>
            <a:ext cx="1212042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 fontAlgn="b"/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FOUP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開門氣缸</a:t>
            </a:r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-Y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軸</a:t>
            </a:r>
            <a:endParaRPr lang="en-US" altLang="zh-TW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8" name="直線單箭頭接點 17"/>
          <p:cNvCxnSpPr>
            <a:endCxn id="19" idx="2"/>
          </p:cNvCxnSpPr>
          <p:nvPr/>
        </p:nvCxnSpPr>
        <p:spPr>
          <a:xfrm flipH="1" flipV="1">
            <a:off x="716805" y="1392744"/>
            <a:ext cx="865734" cy="156658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/>
          <p:cNvSpPr txBox="1"/>
          <p:nvPr/>
        </p:nvSpPr>
        <p:spPr>
          <a:xfrm>
            <a:off x="375151" y="992634"/>
            <a:ext cx="68330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X010E</a:t>
            </a:r>
          </a:p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X010F</a:t>
            </a:r>
            <a:endParaRPr lang="zh-TW" altLang="en-US" sz="10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95806" y="784098"/>
            <a:ext cx="1212042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 fontAlgn="b"/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Mapping Sensor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氣缸</a:t>
            </a:r>
            <a:endParaRPr lang="en-US" altLang="zh-TW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4476505" y="5035341"/>
            <a:ext cx="1455549" cy="1343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" name="文字方塊 26"/>
          <p:cNvSpPr txBox="1"/>
          <p:nvPr/>
        </p:nvSpPr>
        <p:spPr>
          <a:xfrm>
            <a:off x="4825239" y="5476220"/>
            <a:ext cx="758079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X010C</a:t>
            </a:r>
            <a:endParaRPr lang="en-US" altLang="zh-TW" sz="12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X0118</a:t>
            </a:r>
          </a:p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Y2110</a:t>
            </a:r>
          </a:p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Y2114</a:t>
            </a:r>
          </a:p>
        </p:txBody>
      </p:sp>
      <p:cxnSp>
        <p:nvCxnSpPr>
          <p:cNvPr id="28" name="直線單箭頭接點 27"/>
          <p:cNvCxnSpPr>
            <a:endCxn id="26" idx="2"/>
          </p:cNvCxnSpPr>
          <p:nvPr/>
        </p:nvCxnSpPr>
        <p:spPr>
          <a:xfrm>
            <a:off x="4037100" y="4098175"/>
            <a:ext cx="1167179" cy="93716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>
            <a:endCxn id="33" idx="2"/>
          </p:cNvCxnSpPr>
          <p:nvPr/>
        </p:nvCxnSpPr>
        <p:spPr>
          <a:xfrm flipV="1">
            <a:off x="3624349" y="1432824"/>
            <a:ext cx="1595908" cy="161484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字方塊 32"/>
          <p:cNvSpPr txBox="1"/>
          <p:nvPr/>
        </p:nvSpPr>
        <p:spPr>
          <a:xfrm>
            <a:off x="4878603" y="878826"/>
            <a:ext cx="683307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X0119</a:t>
            </a:r>
          </a:p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Y2110</a:t>
            </a:r>
          </a:p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Y2111</a:t>
            </a:r>
            <a:endParaRPr lang="zh-TW" altLang="en-US" sz="10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4599258" y="670290"/>
            <a:ext cx="1212042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 fontAlgn="b"/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FOUP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開門機構</a:t>
            </a:r>
            <a:r>
              <a:rPr lang="zh-TW" altLang="en-US" sz="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真空</a:t>
            </a:r>
            <a:endParaRPr lang="en-US" altLang="zh-TW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2399752" y="4800233"/>
            <a:ext cx="114146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Y2112</a:t>
            </a:r>
            <a:r>
              <a:rPr lang="en-US" altLang="zh-TW" sz="1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</a:t>
            </a:r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Y2113</a:t>
            </a:r>
            <a:endParaRPr lang="zh-TW" altLang="en-US" sz="10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2203537" y="4566758"/>
            <a:ext cx="1562128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 fontAlgn="b"/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FOUP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開門機構</a:t>
            </a:r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Latch Key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旋轉</a:t>
            </a:r>
            <a:endParaRPr lang="en-US" altLang="zh-TW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9" name="直線單箭頭接點 38"/>
          <p:cNvCxnSpPr>
            <a:endCxn id="38" idx="0"/>
          </p:cNvCxnSpPr>
          <p:nvPr/>
        </p:nvCxnSpPr>
        <p:spPr>
          <a:xfrm flipH="1">
            <a:off x="2984601" y="3749040"/>
            <a:ext cx="132672" cy="81771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字方塊 41"/>
          <p:cNvSpPr txBox="1"/>
          <p:nvPr/>
        </p:nvSpPr>
        <p:spPr>
          <a:xfrm>
            <a:off x="2394205" y="5335031"/>
            <a:ext cx="114146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Y2114</a:t>
            </a:r>
            <a:r>
              <a:rPr lang="en-US" altLang="zh-TW" sz="1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</a:t>
            </a:r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Y2115</a:t>
            </a:r>
            <a:endParaRPr lang="zh-TW" altLang="en-US" sz="10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2197990" y="5101556"/>
            <a:ext cx="1562128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 fontAlgn="b"/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FOUP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開門氣缸</a:t>
            </a:r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-Y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軸</a:t>
            </a:r>
            <a:endParaRPr lang="en-US" altLang="zh-TW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2405284" y="5878142"/>
            <a:ext cx="114146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Y2116</a:t>
            </a:r>
            <a:r>
              <a:rPr lang="en-US" altLang="zh-TW" sz="1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</a:t>
            </a:r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Y2117</a:t>
            </a:r>
            <a:endParaRPr lang="zh-TW" altLang="en-US" sz="10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2209069" y="5644667"/>
            <a:ext cx="1562128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 fontAlgn="b"/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Mapping Sensor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氣缸</a:t>
            </a:r>
            <a:endParaRPr lang="en-US" altLang="zh-TW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68184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標題 1"/>
          <p:cNvSpPr txBox="1">
            <a:spLocks/>
          </p:cNvSpPr>
          <p:nvPr/>
        </p:nvSpPr>
        <p:spPr>
          <a:xfrm>
            <a:off x="1805107" y="0"/>
            <a:ext cx="7070342" cy="55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zh-TW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FLP-A~D</a:t>
            </a:r>
            <a:endParaRPr lang="zh-TW" alt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3207236" y="6532199"/>
            <a:ext cx="2794429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順序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面對操作面，順時鐘方向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96" y="1370281"/>
            <a:ext cx="5906481" cy="4421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237014" y="5035341"/>
            <a:ext cx="1455549" cy="1343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5" name="文字方塊 34"/>
          <p:cNvSpPr txBox="1"/>
          <p:nvPr/>
        </p:nvSpPr>
        <p:spPr>
          <a:xfrm>
            <a:off x="585748" y="5476220"/>
            <a:ext cx="758079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Y2108</a:t>
            </a:r>
          </a:p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Y210C</a:t>
            </a:r>
          </a:p>
          <a:p>
            <a:pPr algn="ctr"/>
            <a:r>
              <a:rPr lang="zh-TW" altLang="en-US" sz="12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</a:t>
            </a:r>
            <a:r>
              <a:rPr lang="zh-TW" altLang="en-US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留</a:t>
            </a:r>
            <a:endParaRPr lang="en-US" altLang="zh-TW" sz="1200" b="1" u="sng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2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預留</a:t>
            </a:r>
            <a:endParaRPr lang="en-US" altLang="zh-TW" sz="1200" b="1" u="sng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6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5239" y="1651570"/>
            <a:ext cx="706579" cy="111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0" name="文字方塊 39"/>
          <p:cNvSpPr txBox="1"/>
          <p:nvPr/>
        </p:nvSpPr>
        <p:spPr>
          <a:xfrm>
            <a:off x="4825239" y="2228895"/>
            <a:ext cx="704451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M01</a:t>
            </a:r>
            <a:endParaRPr lang="zh-TW" altLang="en-US" sz="12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41" name="直線單箭頭接點 40"/>
          <p:cNvCxnSpPr/>
          <p:nvPr/>
        </p:nvCxnSpPr>
        <p:spPr>
          <a:xfrm flipV="1">
            <a:off x="3557847" y="2367394"/>
            <a:ext cx="1267392" cy="101588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7" name="表格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9660657"/>
              </p:ext>
            </p:extLst>
          </p:nvPr>
        </p:nvGraphicFramePr>
        <p:xfrm>
          <a:off x="5978429" y="830935"/>
          <a:ext cx="2971837" cy="432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33647"/>
                <a:gridCol w="2238190"/>
              </a:tblGrid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IO</a:t>
                      </a:r>
                      <a:r>
                        <a:rPr lang="zh-TW" altLang="en-US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00" u="none" strike="noStrike" dirty="0" smtClea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中文名稱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HOME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000" b="0" u="none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軸移動安全保護</a:t>
                      </a:r>
                      <a:endParaRPr lang="zh-TW" altLang="en-US" sz="1000" b="0" u="none" strike="noStrike" dirty="0" smtClean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cxnSp>
        <p:nvCxnSpPr>
          <p:cNvPr id="48" name="直線單箭頭接點 47"/>
          <p:cNvCxnSpPr>
            <a:endCxn id="31" idx="2"/>
          </p:cNvCxnSpPr>
          <p:nvPr/>
        </p:nvCxnSpPr>
        <p:spPr>
          <a:xfrm flipH="1">
            <a:off x="964788" y="4447309"/>
            <a:ext cx="1005328" cy="58803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0" name="表格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2517693"/>
              </p:ext>
            </p:extLst>
          </p:nvPr>
        </p:nvGraphicFramePr>
        <p:xfrm>
          <a:off x="5987933" y="4192239"/>
          <a:ext cx="2948473" cy="195088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27879"/>
                <a:gridCol w="2220594"/>
              </a:tblGrid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IO</a:t>
                      </a:r>
                      <a:r>
                        <a:rPr lang="zh-TW" altLang="en-US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00" u="none" strike="noStrike" dirty="0" smtClean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中文名稱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rgbClr val="00B0F0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標楷體"/>
                          <a:ea typeface="+mn-ea"/>
                          <a:cs typeface="+mn-cs"/>
                          <a:sym typeface="Arial"/>
                        </a:rPr>
                        <a:t>Y2108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r>
                        <a:rPr lang="en-US" altLang="zh-TW" sz="1000" dirty="0" smtClean="0"/>
                        <a:t>FOUP</a:t>
                      </a:r>
                      <a:r>
                        <a:rPr lang="zh-TW" altLang="en-US" sz="1000" dirty="0" smtClean="0"/>
                        <a:t>承載台前後氣缸</a:t>
                      </a:r>
                      <a:r>
                        <a:rPr lang="en-US" altLang="zh-TW" sz="1000" dirty="0" smtClean="0"/>
                        <a:t>-</a:t>
                      </a:r>
                      <a:r>
                        <a:rPr lang="zh-TW" altLang="en-US" sz="1000" dirty="0" smtClean="0"/>
                        <a:t>伸出</a:t>
                      </a:r>
                      <a:endParaRPr lang="zh-TW" altLang="en-US" sz="1000" dirty="0"/>
                    </a:p>
                  </a:txBody>
                  <a:tcPr marL="9525" marR="9525" marT="9525" marB="0" anchor="b"/>
                </a:tc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標楷體"/>
                          <a:ea typeface="+mn-ea"/>
                          <a:cs typeface="+mn-cs"/>
                          <a:sym typeface="Arial"/>
                        </a:rPr>
                        <a:t>Y2109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r>
                        <a:rPr lang="en-US" altLang="zh-TW" sz="1000" dirty="0" smtClean="0"/>
                        <a:t>FOUP</a:t>
                      </a:r>
                      <a:r>
                        <a:rPr lang="zh-TW" altLang="en-US" sz="1000" dirty="0" smtClean="0"/>
                        <a:t>承載台前後氣缸</a:t>
                      </a:r>
                      <a:r>
                        <a:rPr lang="en-US" altLang="zh-TW" sz="1000" dirty="0" smtClean="0"/>
                        <a:t>-</a:t>
                      </a:r>
                      <a:r>
                        <a:rPr lang="zh-TW" altLang="en-US" sz="1000" dirty="0" smtClean="0"/>
                        <a:t>收回</a:t>
                      </a:r>
                      <a:endParaRPr lang="zh-TW" altLang="en-US" sz="1000" dirty="0"/>
                    </a:p>
                  </a:txBody>
                  <a:tcPr marL="9525" marR="9525" marT="9525" marB="0" anchor="b"/>
                </a:tc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標楷體"/>
                          <a:ea typeface="+mn-ea"/>
                          <a:cs typeface="+mn-cs"/>
                          <a:sym typeface="Arial"/>
                        </a:rPr>
                        <a:t>Y210A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r>
                        <a:rPr lang="en-US" altLang="zh-TW" sz="1000" dirty="0" smtClean="0"/>
                        <a:t>FOUP</a:t>
                      </a:r>
                      <a:r>
                        <a:rPr lang="zh-TW" altLang="en-US" sz="1000" dirty="0" smtClean="0"/>
                        <a:t>夾持氣缸</a:t>
                      </a:r>
                      <a:r>
                        <a:rPr lang="en-US" altLang="zh-TW" sz="1000" dirty="0" smtClean="0"/>
                        <a:t>-Z</a:t>
                      </a:r>
                      <a:r>
                        <a:rPr lang="zh-TW" altLang="en-US" sz="1000" dirty="0" smtClean="0"/>
                        <a:t>軸</a:t>
                      </a:r>
                      <a:r>
                        <a:rPr lang="en-US" altLang="zh-TW" sz="1000" dirty="0" smtClean="0"/>
                        <a:t>-</a:t>
                      </a:r>
                      <a:r>
                        <a:rPr lang="zh-TW" altLang="en-US" sz="1000" dirty="0" smtClean="0"/>
                        <a:t>伸出</a:t>
                      </a:r>
                      <a:endParaRPr lang="zh-TW" altLang="en-US" sz="1000" dirty="0"/>
                    </a:p>
                  </a:txBody>
                  <a:tcPr marL="9525" marR="9525" marT="9525" marB="0" anchor="b"/>
                </a:tc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標楷體"/>
                          <a:ea typeface="+mn-ea"/>
                          <a:cs typeface="+mn-cs"/>
                          <a:sym typeface="Arial"/>
                        </a:rPr>
                        <a:t>Y210B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dirty="0" smtClean="0"/>
                        <a:t>FOUP</a:t>
                      </a:r>
                      <a:r>
                        <a:rPr lang="zh-TW" altLang="en-US" sz="1000" dirty="0" smtClean="0"/>
                        <a:t>夾持氣缸</a:t>
                      </a:r>
                      <a:r>
                        <a:rPr lang="en-US" altLang="zh-TW" sz="1000" dirty="0" smtClean="0"/>
                        <a:t>-Z</a:t>
                      </a:r>
                      <a:r>
                        <a:rPr lang="zh-TW" altLang="en-US" sz="1000" dirty="0" smtClean="0"/>
                        <a:t>軸</a:t>
                      </a:r>
                      <a:r>
                        <a:rPr lang="en-US" altLang="zh-TW" sz="1000" dirty="0" smtClean="0"/>
                        <a:t>-</a:t>
                      </a:r>
                      <a:r>
                        <a:rPr lang="zh-TW" altLang="en-US" sz="1000" dirty="0" smtClean="0"/>
                        <a:t>收回</a:t>
                      </a:r>
                    </a:p>
                  </a:txBody>
                  <a:tcPr marL="9525" marR="9525" marT="9525" marB="0" anchor="b"/>
                </a:tc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標楷體"/>
                          <a:ea typeface="+mn-ea"/>
                          <a:cs typeface="+mn-cs"/>
                          <a:sym typeface="Arial"/>
                        </a:rPr>
                        <a:t>Y210C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r>
                        <a:rPr lang="en-US" altLang="zh-TW" sz="1000" dirty="0" smtClean="0"/>
                        <a:t>FOUP</a:t>
                      </a:r>
                      <a:r>
                        <a:rPr lang="zh-TW" altLang="en-US" sz="1000" dirty="0" smtClean="0"/>
                        <a:t>夾持氣缸</a:t>
                      </a:r>
                      <a:r>
                        <a:rPr lang="en-US" altLang="zh-TW" sz="1000" dirty="0" smtClean="0"/>
                        <a:t>-Y</a:t>
                      </a:r>
                      <a:r>
                        <a:rPr lang="zh-TW" altLang="en-US" sz="1000" dirty="0" smtClean="0"/>
                        <a:t>軸</a:t>
                      </a:r>
                      <a:r>
                        <a:rPr lang="en-US" altLang="zh-TW" sz="1000" dirty="0" smtClean="0"/>
                        <a:t>-</a:t>
                      </a:r>
                      <a:r>
                        <a:rPr lang="zh-TW" altLang="en-US" sz="1000" dirty="0" smtClean="0"/>
                        <a:t>伸出</a:t>
                      </a:r>
                      <a:endParaRPr lang="zh-TW" altLang="en-US" sz="1000" dirty="0"/>
                    </a:p>
                  </a:txBody>
                  <a:tcPr marL="9525" marR="9525" marT="9525" marB="0" anchor="b"/>
                </a:tc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標楷體"/>
                          <a:ea typeface="+mn-ea"/>
                          <a:cs typeface="+mn-cs"/>
                          <a:sym typeface="Arial"/>
                        </a:rPr>
                        <a:t>Y210D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dirty="0" smtClean="0"/>
                        <a:t>FOUP</a:t>
                      </a:r>
                      <a:r>
                        <a:rPr lang="zh-TW" altLang="en-US" sz="1000" dirty="0" smtClean="0"/>
                        <a:t>夾持氣缸</a:t>
                      </a:r>
                      <a:r>
                        <a:rPr lang="en-US" altLang="zh-TW" sz="1000" dirty="0" smtClean="0"/>
                        <a:t>-Y</a:t>
                      </a:r>
                      <a:r>
                        <a:rPr lang="zh-TW" altLang="en-US" sz="1000" dirty="0" smtClean="0"/>
                        <a:t>軸</a:t>
                      </a:r>
                      <a:r>
                        <a:rPr lang="en-US" altLang="zh-TW" sz="1000" dirty="0" smtClean="0"/>
                        <a:t>-</a:t>
                      </a:r>
                      <a:r>
                        <a:rPr lang="zh-TW" altLang="en-US" sz="1000" dirty="0" smtClean="0"/>
                        <a:t>收回</a:t>
                      </a:r>
                    </a:p>
                  </a:txBody>
                  <a:tcPr marL="9525" marR="9525" marT="9525" marB="0" anchor="b"/>
                </a:tc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標楷體"/>
                          <a:ea typeface="+mn-ea"/>
                          <a:cs typeface="+mn-cs"/>
                          <a:sym typeface="Arial"/>
                        </a:rPr>
                        <a:t>Y210E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OP</a:t>
                      </a:r>
                      <a:r>
                        <a:rPr kumimoji="0" lang="zh-TW" altLang="en-US" sz="1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  <a:sym typeface="Arial"/>
                        </a:rPr>
                        <a:t>手動按鈕</a:t>
                      </a:r>
                    </a:p>
                  </a:txBody>
                  <a:tcPr marL="9525" marR="9525" marT="9525" marB="0" anchor="b"/>
                </a:tc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標楷體"/>
                          <a:ea typeface="+mn-ea"/>
                          <a:cs typeface="+mn-cs"/>
                          <a:sym typeface="Arial"/>
                        </a:rPr>
                        <a:t>Y210F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cxnSp>
        <p:nvCxnSpPr>
          <p:cNvPr id="51" name="直線單箭頭接點 50"/>
          <p:cNvCxnSpPr>
            <a:endCxn id="53" idx="2"/>
          </p:cNvCxnSpPr>
          <p:nvPr/>
        </p:nvCxnSpPr>
        <p:spPr>
          <a:xfrm flipH="1" flipV="1">
            <a:off x="1671415" y="1208527"/>
            <a:ext cx="581244" cy="156131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字方塊 51"/>
          <p:cNvSpPr txBox="1"/>
          <p:nvPr/>
        </p:nvSpPr>
        <p:spPr>
          <a:xfrm>
            <a:off x="1106108" y="753770"/>
            <a:ext cx="1132051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fontAlgn="b"/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FOUP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開門滑台</a:t>
            </a:r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-Z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軸</a:t>
            </a:r>
            <a:endParaRPr lang="en-US" altLang="zh-TW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文字方塊 52"/>
          <p:cNvSpPr txBox="1"/>
          <p:nvPr/>
        </p:nvSpPr>
        <p:spPr>
          <a:xfrm>
            <a:off x="1329761" y="962306"/>
            <a:ext cx="68330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M00</a:t>
            </a:r>
            <a:endParaRPr lang="zh-TW" altLang="en-US" sz="10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4" name="文字方塊 53"/>
          <p:cNvSpPr txBox="1"/>
          <p:nvPr/>
        </p:nvSpPr>
        <p:spPr>
          <a:xfrm>
            <a:off x="3459326" y="4974800"/>
            <a:ext cx="114146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Y2108</a:t>
            </a:r>
            <a:r>
              <a:rPr lang="en-US" altLang="zh-TW" sz="1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</a:t>
            </a:r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Y2109</a:t>
            </a:r>
            <a:endParaRPr lang="zh-TW" altLang="en-US" sz="10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3263111" y="4741325"/>
            <a:ext cx="1562128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 fontAlgn="b"/>
            <a:r>
              <a:rPr lang="en-US" altLang="zh-TW" sz="800" dirty="0"/>
              <a:t>FOUP</a:t>
            </a:r>
            <a:r>
              <a:rPr lang="zh-TW" altLang="en-US" sz="800" dirty="0"/>
              <a:t>承載台前後氣缸</a:t>
            </a:r>
            <a:endParaRPr lang="en-US" altLang="zh-TW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56" name="直線單箭頭接點 55"/>
          <p:cNvCxnSpPr>
            <a:endCxn id="55" idx="0"/>
          </p:cNvCxnSpPr>
          <p:nvPr/>
        </p:nvCxnSpPr>
        <p:spPr>
          <a:xfrm>
            <a:off x="2801389" y="4447309"/>
            <a:ext cx="1242786" cy="29401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/>
          <p:cNvSpPr txBox="1"/>
          <p:nvPr/>
        </p:nvSpPr>
        <p:spPr>
          <a:xfrm>
            <a:off x="3453779" y="5509598"/>
            <a:ext cx="114146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Y210A</a:t>
            </a:r>
            <a:r>
              <a:rPr lang="en-US" altLang="zh-TW" sz="1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</a:t>
            </a:r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Y210B</a:t>
            </a:r>
            <a:endParaRPr lang="zh-TW" altLang="en-US" sz="10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3257564" y="5276123"/>
            <a:ext cx="1562128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 fontAlgn="b"/>
            <a:r>
              <a:rPr lang="en-US" altLang="zh-TW" sz="800" dirty="0"/>
              <a:t>FOUP</a:t>
            </a:r>
            <a:r>
              <a:rPr lang="zh-TW" altLang="en-US" sz="800" dirty="0"/>
              <a:t>夾持氣缸</a:t>
            </a:r>
            <a:r>
              <a:rPr lang="en-US" altLang="zh-TW" sz="800" dirty="0"/>
              <a:t>-Z</a:t>
            </a:r>
            <a:r>
              <a:rPr lang="zh-TW" altLang="en-US" sz="800" dirty="0"/>
              <a:t>軸</a:t>
            </a:r>
            <a:endParaRPr lang="en-US" altLang="zh-TW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9" name="文字方塊 58"/>
          <p:cNvSpPr txBox="1"/>
          <p:nvPr/>
        </p:nvSpPr>
        <p:spPr>
          <a:xfrm>
            <a:off x="3464858" y="6052709"/>
            <a:ext cx="114146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Y210C</a:t>
            </a:r>
            <a:r>
              <a:rPr lang="en-US" altLang="zh-TW" sz="1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</a:t>
            </a:r>
            <a:r>
              <a:rPr lang="en-US" altLang="zh-TW" sz="10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Y210D</a:t>
            </a:r>
            <a:endParaRPr lang="zh-TW" altLang="en-US" sz="10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3268643" y="5819234"/>
            <a:ext cx="1562128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 fontAlgn="b"/>
            <a:r>
              <a:rPr lang="en-US" altLang="zh-TW" sz="800" dirty="0"/>
              <a:t>FOUP</a:t>
            </a:r>
            <a:r>
              <a:rPr lang="zh-TW" altLang="en-US" sz="800" dirty="0"/>
              <a:t>夾持氣缸</a:t>
            </a:r>
            <a:r>
              <a:rPr lang="en-US" altLang="zh-TW" sz="800" dirty="0"/>
              <a:t>-Y</a:t>
            </a:r>
            <a:r>
              <a:rPr lang="zh-TW" altLang="en-US" sz="800" dirty="0"/>
              <a:t>軸</a:t>
            </a:r>
            <a:endParaRPr lang="en-US" altLang="zh-TW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98650387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 - ProV Confidential(0403) - 20201001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29941</TotalTime>
  <Words>1289</Words>
  <Application>Microsoft Office PowerPoint</Application>
  <PresentationFormat>如螢幕大小 (4:3)</PresentationFormat>
  <Paragraphs>525</Paragraphs>
  <Slides>13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4" baseType="lpstr">
      <vt:lpstr>佈景主題 - ProV Confidential(0403) - 20201001</vt:lpstr>
      <vt:lpstr>AWEX12001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AWDP11001 專案進度檢討</dc:title>
  <dc:creator>Jay Tsao</dc:creator>
  <cp:lastModifiedBy>Kevin柯志遠</cp:lastModifiedBy>
  <cp:revision>657</cp:revision>
  <cp:lastPrinted>2025-04-29T01:19:23Z</cp:lastPrinted>
  <dcterms:created xsi:type="dcterms:W3CDTF">2023-10-16T07:54:19Z</dcterms:created>
  <dcterms:modified xsi:type="dcterms:W3CDTF">2025-10-10T00:26:56Z</dcterms:modified>
</cp:coreProperties>
</file>